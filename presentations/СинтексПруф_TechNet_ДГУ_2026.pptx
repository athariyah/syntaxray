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docs.sonarsource.com/sonarqube-server/quality-standards-administration/managing-rules/rules" TargetMode="External"/><Relationship Id="rId4" Type="http://schemas.openxmlformats.org/officeDocument/2006/relationships/hyperlink" Target="https://docs.coderabbit.ai/guides/code-review-overview" TargetMode="External"/><Relationship Id="rId5" Type="http://schemas.openxmlformats.org/officeDocument/2006/relationships/hyperlink" Target="https://docs.github.com/copilot/concepts/agents/coding-agent/about-coding-agen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pt.2035.university/accelerator/74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pt.2035.university/accelerator/747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184400"/>
            <a:ext cx="6604000" cy="25755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4CBFA"/>
                </a:solidFill>
                <a:latin typeface="Arial"/>
              </a:rPr>
              <a:t>ПРОЕКТ АКСЕЛЕРАТОРА ДГУ / TECHNET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08300"/>
            <a:ext cx="8890000" cy="75336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56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СинтексПруф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3733800"/>
            <a:ext cx="8521700" cy="91211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294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Arial"/>
              </a:rPr>
              <a:t>Облачная система семантического анализа_x000B_и ИИ-ревью исходного кода_x000B_для образовательных учреждений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300" y="5740400"/>
            <a:ext cx="8128000" cy="29819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Исмаилов Ислам Шафикович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6108700"/>
            <a:ext cx="9398000" cy="252679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FFFFF"/>
                </a:solidFill>
                <a:latin typeface="Arial"/>
              </a:rPr>
              <a:t>aldarfgfg@gmail.com • +7 (928) 218-30-30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6591300"/>
            <a:ext cx="10756900" cy="14224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DD2E9"/>
                </a:solidFill>
                <a:latin typeface="Arial"/>
              </a:rPr>
              <a:t>Источники: анкета проекта (приложенное изображение); «Акселератор.pdf», с. 1, 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19100" y="2095500"/>
            <a:ext cx="3695700" cy="0"/>
          </a:xfrm>
          <a:prstGeom prst="line">
            <a:avLst/>
          </a:prstGeom>
          <a:ln w="31750">
            <a:solidFill>
              <a:srgbClr val="89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600" y="2286000"/>
            <a:ext cx="10782300" cy="3794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1931"/>
                </a:solidFill>
                <a:latin typeface="Arial"/>
              </a:rPr>
              <a:t>Проверка кода не масштабируется вместе с потоком работ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6900" y="2933700"/>
            <a:ext cx="3505200" cy="2235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300" y="3124200"/>
            <a:ext cx="50800" cy="18542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9800" y="3098800"/>
            <a:ext cx="2971800" cy="3144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1931"/>
                </a:solidFill>
                <a:latin typeface="Arial"/>
              </a:rPr>
              <a:t>Команды разработки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3467100"/>
            <a:ext cx="2946400" cy="68671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A526C"/>
                </a:solidFill>
                <a:latin typeface="Arial"/>
              </a:rPr>
              <a:t>Ручной Code Review занимает_x000B_время опытных инженеров и_x000B_задерживает обратную связь.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933700"/>
            <a:ext cx="3505200" cy="2235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5800" y="3124200"/>
            <a:ext cx="50800" cy="18542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6300" y="3098800"/>
            <a:ext cx="2971800" cy="3144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1931"/>
                </a:solidFill>
                <a:latin typeface="Arial"/>
              </a:rPr>
              <a:t>Образование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3467100"/>
            <a:ext cx="2946400" cy="68671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A526C"/>
                </a:solidFill>
                <a:latin typeface="Arial"/>
              </a:rPr>
              <a:t>Одних тестов мало для оценки_x000B_памяти, алгоритмов и_x000B_самостоятельности решения.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9900" y="2933700"/>
            <a:ext cx="3505200" cy="2235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2300" y="3124200"/>
            <a:ext cx="50800" cy="18542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800" y="3098800"/>
            <a:ext cx="2971800" cy="3144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1931"/>
                </a:solidFill>
                <a:latin typeface="Arial"/>
              </a:rPr>
              <a:t>ИИ-генерация кода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00" y="3467100"/>
            <a:ext cx="2946400" cy="68671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02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A526C"/>
                </a:solidFill>
                <a:latin typeface="Arial"/>
              </a:rPr>
              <a:t>Предложенный LLM код может_x000B_содержать ошибки, слабые_x000B_места и лишнюю сложность.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" y="5537200"/>
            <a:ext cx="10655300" cy="43799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74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7228A"/>
                </a:solidFill>
                <a:latin typeface="Arial"/>
              </a:rPr>
              <a:t>В исходном питче указано до 20–30% времени Senior/Lead на Code Review;_x000B_методика измерения и подтверждающие данные не приложены.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502400"/>
            <a:ext cx="10756900" cy="13970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26C"/>
                </a:solidFill>
                <a:latin typeface="Arial"/>
              </a:rPr>
              <a:t>Источник: «Акселератор.pdf», с. 2. Оценка 20–30% — тезис исходного питча, не проверенный замер.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39900"/>
            <a:ext cx="8394700" cy="41198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1931"/>
                </a:solidFill>
                <a:latin typeface="Arial"/>
              </a:rPr>
              <a:t>От дефекта — к понятному объяснению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" y="2209800"/>
            <a:ext cx="8788400" cy="54203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526C"/>
                </a:solidFill>
                <a:latin typeface="Arial"/>
              </a:rPr>
              <a:t>Детерминированная проверка + ИИ-разбор: риски, асимптотика_x000B_и замечания с привязкой к строкам кода.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6900" y="2743200"/>
            <a:ext cx="7239000" cy="3606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651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v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2819400"/>
            <a:ext cx="7086600" cy="3505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91500" y="2768600"/>
            <a:ext cx="3149600" cy="939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9300" y="2882900"/>
            <a:ext cx="2768600" cy="27543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868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1F1931"/>
                </a:solidFill>
                <a:latin typeface="Arial"/>
              </a:rPr>
              <a:t>Заявленная 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9300" y="3200400"/>
            <a:ext cx="2768600" cy="38272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57228A"/>
                </a:solidFill>
                <a:latin typeface="Arial"/>
              </a:rPr>
              <a:t>Отличать код человека от LLM;_x000B_точность ещё не подтверждена.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527800"/>
            <a:ext cx="10756900" cy="13970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26C"/>
                </a:solidFill>
                <a:latin typeface="Arial"/>
              </a:rPr>
              <a:t>Иллюстрация MVP: «Акселератор.pdf», с. 3 (из исходного файла, не новый результат тестирования).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52600"/>
            <a:ext cx="7213600" cy="37134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F1931"/>
                </a:solidFill>
                <a:latin typeface="Arial"/>
              </a:rPr>
              <a:t>Правила сначала. ИИ — для объяснения.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300" y="2298700"/>
            <a:ext cx="6184900" cy="762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4700" y="2451100"/>
            <a:ext cx="457200" cy="457200"/>
          </a:xfrm>
          <a:prstGeom prst="ellipse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900" y="2540000"/>
            <a:ext cx="3175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4300" y="2413000"/>
            <a:ext cx="5080000" cy="29006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1931"/>
                </a:solidFill>
                <a:latin typeface="Arial"/>
              </a:rPr>
              <a:t>Ввод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4300" y="2717800"/>
            <a:ext cx="52070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Исходный код C, C++ или 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" y="3162300"/>
            <a:ext cx="6184900" cy="762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4700" y="3314700"/>
            <a:ext cx="457200" cy="457200"/>
          </a:xfrm>
          <a:prstGeom prst="ellipse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3403600"/>
            <a:ext cx="3175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4300" y="3276600"/>
            <a:ext cx="5080000" cy="29006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1931"/>
                </a:solidFill>
                <a:latin typeface="Arial"/>
              </a:rPr>
              <a:t>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300" y="3581400"/>
            <a:ext cx="52070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Статические проверки и выявление дефектов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4025900"/>
            <a:ext cx="6184900" cy="762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4700" y="4178300"/>
            <a:ext cx="457200" cy="457200"/>
          </a:xfrm>
          <a:prstGeom prst="ellipse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900" y="4267200"/>
            <a:ext cx="3175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4300" y="4140200"/>
            <a:ext cx="5080000" cy="29006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1931"/>
                </a:solidFill>
                <a:latin typeface="Arial"/>
              </a:rPr>
              <a:t>ИИ-ревью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4300" y="4445000"/>
            <a:ext cx="52070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Интерпретация риска и качества решения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" y="4889500"/>
            <a:ext cx="6184900" cy="762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4700" y="5041900"/>
            <a:ext cx="457200" cy="457200"/>
          </a:xfrm>
          <a:prstGeom prst="ellipse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900" y="5130800"/>
            <a:ext cx="3175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4300" y="5003800"/>
            <a:ext cx="5080000" cy="29006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1931"/>
                </a:solidFill>
                <a:latin typeface="Arial"/>
              </a:rPr>
              <a:t>Отчёт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4300" y="5308600"/>
            <a:ext cx="52070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Приоритет и замечания по строкам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5816600"/>
            <a:ext cx="6553200" cy="21854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7228A"/>
                </a:solidFill>
                <a:latin typeface="Arial"/>
              </a:rPr>
              <a:t>Стек: React / Next.js • Python / FastAPI •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057900"/>
            <a:ext cx="6565900" cy="341223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19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7228A"/>
                </a:solidFill>
                <a:latin typeface="Arial"/>
              </a:rPr>
              <a:t>По анкете: системы обработки больших данных, ML и ИИ._x000B_Сквозная технология — технологии искусственного интеллекта.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02400"/>
            <a:ext cx="10756900" cy="13970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26C"/>
                </a:solidFill>
                <a:latin typeface="Arial"/>
              </a:rPr>
              <a:t>Стек: «Акселератор.pdf», с. 5; классификация технологий — анкета проекта.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1663700"/>
            <a:ext cx="10871200" cy="35021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F1931"/>
                </a:solidFill>
                <a:latin typeface="Arial"/>
              </a:rPr>
              <a:t>Позиционирование: ревью кода для TechNet и EduNet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2032000"/>
            <a:ext cx="10845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A526C"/>
                </a:solidFill>
                <a:latin typeface="Arial"/>
              </a:rPr>
              <a:t>Сравнение сценариев по открытым описаниям, без измерения точности и цены.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743200"/>
            <a:ext cx="2413000" cy="698500"/>
          </a:xfrm>
          <a:prstGeom prst="rect">
            <a:avLst/>
          </a:prstGeom>
          <a:solidFill>
            <a:srgbClr val="57228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2870200"/>
            <a:ext cx="2184400" cy="21183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Критерий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6400" y="2743200"/>
            <a:ext cx="2159000" cy="698500"/>
          </a:xfrm>
          <a:prstGeom prst="rect">
            <a:avLst/>
          </a:prstGeom>
          <a:solidFill>
            <a:srgbClr val="57228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700" y="2870200"/>
            <a:ext cx="1930400" cy="3855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СинтексПруф_x000B_проект ДГУ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5400" y="2743200"/>
            <a:ext cx="2159000" cy="698500"/>
          </a:xfrm>
          <a:prstGeom prst="rect">
            <a:avLst/>
          </a:prstGeom>
          <a:solidFill>
            <a:srgbClr val="57228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700" y="2870200"/>
            <a:ext cx="1930400" cy="54193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FFFFFF"/>
                </a:solidFill>
                <a:latin typeface="Arial"/>
              </a:rPr>
              <a:t>SonarQube_x000B_SonarSource,_x000B_Швейцария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4400" y="2743200"/>
            <a:ext cx="2159000" cy="698500"/>
          </a:xfrm>
          <a:prstGeom prst="rect">
            <a:avLst/>
          </a:prstGeom>
          <a:solidFill>
            <a:srgbClr val="57228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8700" y="2870200"/>
            <a:ext cx="1930400" cy="3855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CodeRabbit_x000B_США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23400" y="2743200"/>
            <a:ext cx="2159000" cy="698500"/>
          </a:xfrm>
          <a:prstGeom prst="rect">
            <a:avLst/>
          </a:prstGeom>
          <a:solidFill>
            <a:srgbClr val="57228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700" y="2870200"/>
            <a:ext cx="1930400" cy="3855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Copilot Review_x000B_GitHub, США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3441700"/>
            <a:ext cx="2413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3581400"/>
            <a:ext cx="2209800" cy="22250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1931"/>
                </a:solidFill>
                <a:latin typeface="Arial"/>
              </a:rPr>
              <a:t>Назначение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6400" y="34417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0700" y="35814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Проверка кода_x000B_и учебных работ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5400" y="34417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9700" y="35814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Качество и_x000B_безопасность ПО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4400" y="34417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8700" y="35814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ИИ-ревью_x000B_pull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23400" y="34417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5814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ИИ-ревью_x000B_pull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4216400"/>
            <a:ext cx="2413000" cy="774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" y="4356100"/>
            <a:ext cx="2209800" cy="22250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1931"/>
                </a:solidFill>
                <a:latin typeface="Arial"/>
              </a:rPr>
              <a:t>Основной подход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6400" y="4216400"/>
            <a:ext cx="2159000" cy="774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0700" y="43561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Правила + ИИ_x000B_(заявлено)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05400" y="4216400"/>
            <a:ext cx="2159000" cy="774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9700" y="43561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Правила; AI CodeFix_x000B_для ряда задач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4400" y="4216400"/>
            <a:ext cx="2159000" cy="774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8700" y="43561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ИИ + статические_x000B_инструменты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23400" y="4216400"/>
            <a:ext cx="2159000" cy="774700"/>
          </a:xfrm>
          <a:prstGeom prst="rect">
            <a:avLst/>
          </a:prstGeom>
          <a:solidFill>
            <a:srgbClr val="FFFFFF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37700" y="43561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ИИ-обратная_x000B_связь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4991100"/>
            <a:ext cx="2413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" y="5130800"/>
            <a:ext cx="2209800" cy="22250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1931"/>
                </a:solidFill>
                <a:latin typeface="Arial"/>
              </a:rPr>
              <a:t>Рабочий процесс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46400" y="49911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0700" y="51308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Загрузка кода,_x000B_отчёт по строкам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05400" y="49911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9700" y="51308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Анализ проекта,_x000B_список issues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4400" y="49911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8700" y="5130800"/>
            <a:ext cx="1955800" cy="40076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Коммиты и_x000B_pull requests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23400" y="4991100"/>
            <a:ext cx="2159000" cy="774700"/>
          </a:xfrm>
          <a:prstGeom prst="rect">
            <a:avLst/>
          </a:prstGeom>
          <a:solidFill>
            <a:srgbClr val="F4F0F9"/>
          </a:solidFill>
          <a:ln w="762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37700" y="5130800"/>
            <a:ext cx="1955800" cy="21943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F1931"/>
                </a:solidFill>
                <a:latin typeface="Arial"/>
              </a:rPr>
              <a:t>PR и 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800" y="5905500"/>
            <a:ext cx="10795000" cy="41198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7228A"/>
                </a:solidFill>
                <a:latin typeface="Arial"/>
              </a:rPr>
              <a:t>Вывод: преимущество в учебном сценарии — гипотеза; нужны_x000B_сопоставимые испытания по качеству, времени и стоимости.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553200"/>
            <a:ext cx="1900458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</a:rPr>
              <a:t>Источники: «Акселератор.pdf» 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0058" y="6553200"/>
            <a:ext cx="896622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  <a:hlinkClick r:id="rId3"/>
              </a:rPr>
              <a:t>SonarQube Docs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06681" y="6553200"/>
            <a:ext cx="229574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6256" y="6553200"/>
            <a:ext cx="920481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  <a:hlinkClick r:id="rId4"/>
              </a:rPr>
              <a:t>CodeRabbit Docs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6737" y="6553200"/>
            <a:ext cx="229574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6312" y="6553200"/>
            <a:ext cx="679580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  <a:hlinkClick r:id="rId5"/>
              </a:rPr>
              <a:t>GitHub Docs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65893" y="6553200"/>
            <a:ext cx="695955" cy="14097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A526C"/>
                </a:solidFill>
                <a:latin typeface="Arial"/>
              </a:rPr>
              <a:t>(окт.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663700"/>
            <a:ext cx="8953500" cy="374599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649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1F1931"/>
                </a:solidFill>
                <a:latin typeface="Arial"/>
              </a:rPr>
              <a:t>Кто использует и кто может платить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247900"/>
            <a:ext cx="7162800" cy="10541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438400"/>
            <a:ext cx="50800" cy="6731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2374900"/>
            <a:ext cx="66294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Образовательные учреждения / EduNet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730500"/>
            <a:ext cx="66040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A526C"/>
                </a:solidFill>
                <a:latin typeface="Arial"/>
              </a:rPr>
              <a:t>Проверка кода студентов и понятная обратная связь преподавателю.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3429000"/>
            <a:ext cx="7162800" cy="10541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3619500"/>
            <a:ext cx="50800" cy="6731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556000"/>
            <a:ext cx="6629400" cy="30144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F1931"/>
                </a:solidFill>
                <a:latin typeface="Arial"/>
              </a:rPr>
              <a:t>ИТ-команды / рынок TechNet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911600"/>
            <a:ext cx="66040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A526C"/>
                </a:solidFill>
                <a:latin typeface="Arial"/>
              </a:rPr>
              <a:t>Первичный фильтр до ручного Code Review для руководителя разработки.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4610100"/>
            <a:ext cx="7162800" cy="10541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4800600"/>
            <a:ext cx="50800" cy="6731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4737100"/>
            <a:ext cx="6629400" cy="30144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F1931"/>
                </a:solidFill>
                <a:latin typeface="Arial"/>
              </a:rPr>
              <a:t>HR / обучающие программы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5092700"/>
            <a:ext cx="66040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A526C"/>
                </a:solidFill>
                <a:latin typeface="Arial"/>
              </a:rPr>
              <a:t>Разбор тестовых заданий и сопоставимая оценка решений кандидатов.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5829300"/>
            <a:ext cx="7162800" cy="533400"/>
          </a:xfrm>
          <a:prstGeom prst="roundRect">
            <a:avLst>
              <a:gd name="adj" fmla="val 11000"/>
            </a:avLst>
          </a:prstGeom>
          <a:solidFill>
            <a:srgbClr val="F3E6FC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700" y="5956300"/>
            <a:ext cx="6858000" cy="23479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57228A"/>
                </a:solidFill>
                <a:latin typeface="Arial"/>
              </a:rPr>
              <a:t>Гипотеза: B2B/B2Edu-подписка; цену и размер рынка уточнят пилоты.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553200"/>
            <a:ext cx="10756900" cy="14224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26C"/>
                </a:solidFill>
                <a:latin typeface="Arial"/>
              </a:rPr>
              <a:t>Фокус на образовании и рынок TechNet — анкета проекта; модель оплаты — гипотеза.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689100"/>
            <a:ext cx="7581900" cy="333959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F1931"/>
                </a:solidFill>
                <a:latin typeface="Arial"/>
              </a:rPr>
              <a:t>Команда проекта: 5 участников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" y="2082800"/>
            <a:ext cx="4991100" cy="22016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57228A"/>
                </a:solidFill>
                <a:latin typeface="Arial"/>
              </a:rPr>
              <a:t>Лидер: aldarfgfg@gmail.com • +7 (928) 218-30-30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0" y="2247900"/>
            <a:ext cx="2159000" cy="1811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r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A526C"/>
                </a:solidFill>
                <a:latin typeface="Arial"/>
              </a:rPr>
              <a:t>UnTI ID / Leader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" y="2463800"/>
            <a:ext cx="7162800" cy="6985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590800"/>
            <a:ext cx="50800" cy="4445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2540000"/>
            <a:ext cx="4508500" cy="25755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1931"/>
                </a:solidFill>
                <a:latin typeface="Arial"/>
              </a:rPr>
              <a:t>Исмаилов Ислам Шафикович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9100" y="2578100"/>
            <a:ext cx="2108200" cy="19903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7228A"/>
                </a:solidFill>
                <a:latin typeface="Arial"/>
              </a:rPr>
              <a:t>U2579564 / 7124087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857500"/>
            <a:ext cx="6654800" cy="21854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A526C"/>
                </a:solidFill>
                <a:latin typeface="Arial"/>
              </a:rPr>
              <a:t>Руководитель проекта · Тимлид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00" y="3238500"/>
            <a:ext cx="7162800" cy="6985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700" y="3365500"/>
            <a:ext cx="50800" cy="4445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314700"/>
            <a:ext cx="4508500" cy="25755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1931"/>
                </a:solidFill>
                <a:latin typeface="Arial"/>
              </a:rPr>
              <a:t>Яхьяев Абдуллах Закарьяевич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9100" y="3352800"/>
            <a:ext cx="2108200" cy="19903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7228A"/>
                </a:solidFill>
                <a:latin typeface="Arial"/>
              </a:rPr>
              <a:t>U2579613 / 7675623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632200"/>
            <a:ext cx="6654800" cy="21854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A526C"/>
                </a:solidFill>
                <a:latin typeface="Arial"/>
              </a:rPr>
              <a:t>Технический специалист · Бэкенд-разработчик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4013200"/>
            <a:ext cx="7162800" cy="6985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4700" y="4140200"/>
            <a:ext cx="50800" cy="4445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800" y="4089400"/>
            <a:ext cx="4508500" cy="25755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1931"/>
                </a:solidFill>
                <a:latin typeface="Arial"/>
              </a:rPr>
              <a:t>Загиров Алимагомед Мурадович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9100" y="4127500"/>
            <a:ext cx="2108200" cy="19903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7228A"/>
                </a:solidFill>
                <a:latin typeface="Arial"/>
              </a:rPr>
              <a:t>U1836974 / 4870356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406900"/>
            <a:ext cx="6654800" cy="21854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A526C"/>
                </a:solidFill>
                <a:latin typeface="Arial"/>
              </a:rPr>
              <a:t>Бизнес-аналитик · Продуктовый аналитик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00" y="4787900"/>
            <a:ext cx="7162800" cy="6985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4700" y="4914900"/>
            <a:ext cx="50800" cy="4445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800" y="4864100"/>
            <a:ext cx="4508500" cy="25755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1931"/>
                </a:solidFill>
                <a:latin typeface="Arial"/>
              </a:rPr>
              <a:t>Омаров Алиасхаб Рабаданович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9100" y="4902200"/>
            <a:ext cx="2108200" cy="19903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7228A"/>
                </a:solidFill>
                <a:latin typeface="Arial"/>
              </a:rPr>
              <a:t>U2579569 / 7369083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800" y="5181600"/>
            <a:ext cx="6654800" cy="21854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A526C"/>
                </a:solidFill>
                <a:latin typeface="Arial"/>
              </a:rPr>
              <a:t>Технический специалист · Бэкенд-разработчик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00" y="5562600"/>
            <a:ext cx="7162800" cy="6985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4700" y="5689600"/>
            <a:ext cx="50800" cy="4445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800" y="5638800"/>
            <a:ext cx="4508500" cy="25755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1931"/>
                </a:solidFill>
                <a:latin typeface="Arial"/>
              </a:rPr>
              <a:t>Магомедов Руслан Шамильевич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9100" y="5676900"/>
            <a:ext cx="2108200" cy="19903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7228A"/>
                </a:solidFill>
                <a:latin typeface="Arial"/>
              </a:rPr>
              <a:t>U2579575 / 7688556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800" y="5956300"/>
            <a:ext cx="6654800" cy="218541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A526C"/>
                </a:solidFill>
                <a:latin typeface="Arial"/>
              </a:rPr>
              <a:t>Дизайнер · Фронтенд-разработчик, UX/UI дизайнер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53200"/>
            <a:ext cx="10756900" cy="14224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26C"/>
                </a:solidFill>
                <a:latin typeface="Arial"/>
              </a:rPr>
              <a:t>Источник: анкета проекта (приложенное изображение); вуз, курс и опыт не указаны.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27200"/>
            <a:ext cx="7848600" cy="34696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1931"/>
                </a:solidFill>
                <a:latin typeface="Arial"/>
              </a:rPr>
              <a:t>Подтверждённых партнёрств в материалах 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300" y="2336800"/>
            <a:ext cx="6756400" cy="1016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4700" y="2527300"/>
            <a:ext cx="50800" cy="6350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2451100"/>
            <a:ext cx="6223000" cy="2949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22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F1931"/>
                </a:solidFill>
                <a:latin typeface="Arial"/>
              </a:rPr>
              <a:t>Пилотная ИТ-команда TechNet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2806700"/>
            <a:ext cx="6197600" cy="44124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A526C"/>
                </a:solidFill>
                <a:latin typeface="Arial"/>
              </a:rPr>
              <a:t>Нужен разбор реального C/C++/Python-кода и сравнение с ручным_x000B_ревью.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" y="3454400"/>
            <a:ext cx="6756400" cy="1016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4700" y="3644900"/>
            <a:ext cx="50800" cy="6350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3568700"/>
            <a:ext cx="6223000" cy="2949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22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F1931"/>
                </a:solidFill>
                <a:latin typeface="Arial"/>
              </a:rPr>
              <a:t>Учебная площадка EduNet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3924300"/>
            <a:ext cx="6197600" cy="23967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A526C"/>
                </a:solidFill>
                <a:latin typeface="Arial"/>
              </a:rPr>
              <a:t>Нужны обезличенные работы и эталонные оценки преподавателей.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" y="4572000"/>
            <a:ext cx="6756400" cy="1016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4700" y="4762500"/>
            <a:ext cx="50800" cy="6350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4686300"/>
            <a:ext cx="6223000" cy="2949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22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F1931"/>
                </a:solidFill>
                <a:latin typeface="Arial"/>
              </a:rPr>
              <a:t>Экспертиза акселератора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041900"/>
            <a:ext cx="6197600" cy="23967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A526C"/>
                </a:solidFill>
                <a:latin typeface="Arial"/>
              </a:rPr>
              <a:t>Технологический аудит, наставничество и консультации по пилоту.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753100"/>
            <a:ext cx="7353300" cy="22016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57228A"/>
                </a:solidFill>
                <a:latin typeface="Arial"/>
              </a:rPr>
              <a:t>Логотипы из исходного слайда обозначали аудиторию, не партнёров.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53200"/>
            <a:ext cx="10756900" cy="13970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26C"/>
                </a:solidFill>
                <a:latin typeface="Arial"/>
                <a:hlinkClick r:id="rId3"/>
              </a:rPr>
              <a:t>Источники: «Акселератор.pdf», с. 4–5; описание программы: pt.2035.university/accelerator/747.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1511300"/>
            <a:ext cx="11163300" cy="30144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F1931"/>
                </a:solidFill>
                <a:latin typeface="Arial"/>
              </a:rPr>
              <a:t>В питче показан экран «живого демо»; протоколы испытаний не приложены.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6100" y="2057400"/>
            <a:ext cx="2603500" cy="495300"/>
          </a:xfrm>
          <a:prstGeom prst="roundRect">
            <a:avLst>
              <a:gd name="adj" fmla="val 11000"/>
            </a:avLst>
          </a:prstGeom>
          <a:solidFill>
            <a:srgbClr val="57228A"/>
          </a:solidFill>
          <a:ln w="10160">
            <a:solidFill>
              <a:srgbClr val="572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171700"/>
            <a:ext cx="2222500" cy="28356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Arial"/>
              </a:rPr>
              <a:t>Ориентир УГТ 4–6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0100" y="2082800"/>
            <a:ext cx="8153400" cy="454253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A526C"/>
                </a:solidFill>
                <a:latin typeface="Arial"/>
              </a:rPr>
              <a:t>Оценка по шкале шаблона, не подтверждённый официальный статус._x000B_Пилот, метрики точности и отзывы ещё необходимо документировать.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2857500"/>
            <a:ext cx="10972800" cy="20716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7228A"/>
                </a:solidFill>
                <a:latin typeface="Arial"/>
              </a:rPr>
              <a:t>КАРТА ПОДТВЕРЖДЕНИЙ ПО ШКАЛЕ УГТ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3302000"/>
            <a:ext cx="1689100" cy="23479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F1931"/>
                </a:solidFill>
                <a:latin typeface="Arial"/>
              </a:rPr>
              <a:t>УГТ / этап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5700" y="3302000"/>
            <a:ext cx="4102100" cy="23479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F1931"/>
                </a:solidFill>
                <a:latin typeface="Arial"/>
              </a:rPr>
              <a:t>Что есть 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2600" y="3302000"/>
            <a:ext cx="4711700" cy="23479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F1931"/>
                </a:solidFill>
                <a:latin typeface="Arial"/>
              </a:rPr>
              <a:t>Артефакт / следующий шаг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3810000"/>
            <a:ext cx="16002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1931"/>
                </a:solidFill>
                <a:latin typeface="Arial"/>
              </a:rPr>
              <a:t>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5700" y="3810000"/>
            <a:ext cx="42164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Концепция, сегменты и модель решения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2600" y="3810000"/>
            <a:ext cx="48133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Питч: «Акселератор.pdf», с. 2–4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419600"/>
            <a:ext cx="16002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1931"/>
                </a:solidFill>
                <a:latin typeface="Arial"/>
              </a:rPr>
              <a:t>4–6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5700" y="4419600"/>
            <a:ext cx="42164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Экран «живого демо» и стек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2600" y="4419600"/>
            <a:ext cx="48133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Скриншот, с. 3; нужны протоколы метрик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016500"/>
            <a:ext cx="16002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1931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5700" y="5016500"/>
            <a:ext cx="42164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Пилот заявлен как план на 4–5-й месяц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2600" y="5016500"/>
            <a:ext cx="48133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Отчёт пилота пока не представлен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5613400"/>
            <a:ext cx="16002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1931"/>
                </a:solidFill>
                <a:latin typeface="Arial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5700" y="5613400"/>
            <a:ext cx="42164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Коммерческое внедрение не заявлено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2600" y="5613400"/>
            <a:ext cx="48133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Акт приёмки не представлен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800" y="6223000"/>
            <a:ext cx="16002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1931"/>
                </a:solidFill>
                <a:latin typeface="Arial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5700" y="6223000"/>
            <a:ext cx="42164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Продажи не заявлены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2600" y="6223000"/>
            <a:ext cx="4813300" cy="22829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F1931"/>
                </a:solidFill>
                <a:latin typeface="Arial"/>
              </a:rPr>
              <a:t>Договоры и отзывы не представлены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56100"/>
            <a:ext cx="11404600" cy="596900"/>
          </a:xfrm>
          <a:prstGeom prst="rect">
            <a:avLst/>
          </a:prstGeom>
          <a:noFill/>
          <a:ln w="20320">
            <a:solidFill>
              <a:srgbClr val="842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1892300"/>
            <a:ext cx="10820400" cy="34696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1931"/>
                </a:solidFill>
                <a:latin typeface="Arial"/>
              </a:rPr>
              <a:t>Данных «до / после» нет: фиксируем базу и план проверок.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2374900"/>
            <a:ext cx="10642600" cy="24942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228A"/>
                </a:solidFill>
                <a:latin typeface="Arial"/>
              </a:rPr>
              <a:t>Плановая веха не является уже достигнутым результатом.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3302000"/>
            <a:ext cx="4851400" cy="27543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868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Arial"/>
              </a:rPr>
              <a:t>Подтверждено материалами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3302000"/>
            <a:ext cx="4902200" cy="275437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868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Arial"/>
              </a:rPr>
              <a:t>Целевой результат / 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7846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MVP заявлен, демо показано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37846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Протоколы тестов и метрики качества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44069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Стек: Next.js, FastAPI,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44069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Стабильный контур для пилота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50292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TechNet и EduNet — целевые сегменты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50292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CustDev, проверка цены и спроса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56515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Партнёры пока не подтверждены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5651500"/>
            <a:ext cx="48768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F1931"/>
                </a:solidFill>
                <a:latin typeface="Arial"/>
              </a:rPr>
              <a:t>Письма интереса и совместные пилоты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40500"/>
            <a:ext cx="10756900" cy="14224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26C"/>
                </a:solidFill>
                <a:latin typeface="Arial"/>
              </a:rPr>
              <a:t>Основа: «Акселератор.pdf», с. 3–5; правая колонка — план, не отчёт о достижениях.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39900"/>
            <a:ext cx="7620000" cy="33070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1931"/>
                </a:solidFill>
                <a:latin typeface="Arial"/>
              </a:rPr>
              <a:t>Дорожная карта из исходного питча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298700"/>
            <a:ext cx="6794500" cy="10033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451100"/>
            <a:ext cx="1409700" cy="698500"/>
          </a:xfrm>
          <a:prstGeom prst="roundRect">
            <a:avLst>
              <a:gd name="adj" fmla="val 11000"/>
            </a:avLst>
          </a:prstGeom>
          <a:solidFill>
            <a:srgbClr val="F3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900" y="2654300"/>
            <a:ext cx="1244600" cy="27381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7228A"/>
                </a:solidFill>
                <a:latin typeface="Arial"/>
              </a:rPr>
              <a:t>1–2 мес.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4900" y="2425700"/>
            <a:ext cx="47371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Проектирование и разработка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900" y="2794000"/>
            <a:ext cx="4749800" cy="23967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A526C"/>
                </a:solidFill>
                <a:latin typeface="Arial"/>
              </a:rPr>
              <a:t>Загрузка кода и читаемый отчёт по замечаниям.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3454400"/>
            <a:ext cx="6794500" cy="10033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3606800"/>
            <a:ext cx="1409700" cy="698500"/>
          </a:xfrm>
          <a:prstGeom prst="roundRect">
            <a:avLst>
              <a:gd name="adj" fmla="val 11000"/>
            </a:avLst>
          </a:prstGeom>
          <a:solidFill>
            <a:srgbClr val="F3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3810000"/>
            <a:ext cx="1244600" cy="27381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7228A"/>
                </a:solidFill>
                <a:latin typeface="Arial"/>
              </a:rPr>
              <a:t>3-й мес.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900" y="3581400"/>
            <a:ext cx="47371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Тестирование и валидация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900" y="3949700"/>
            <a:ext cx="4749800" cy="23967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A526C"/>
                </a:solidFill>
                <a:latin typeface="Arial"/>
              </a:rPr>
              <a:t>Эталонные задачи, ложные срабатывания,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4610100"/>
            <a:ext cx="6794500" cy="10033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000" y="4762500"/>
            <a:ext cx="1409700" cy="698500"/>
          </a:xfrm>
          <a:prstGeom prst="roundRect">
            <a:avLst>
              <a:gd name="adj" fmla="val 11000"/>
            </a:avLst>
          </a:prstGeom>
          <a:solidFill>
            <a:srgbClr val="F3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900" y="4965700"/>
            <a:ext cx="1244600" cy="27381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7228A"/>
                </a:solidFill>
                <a:latin typeface="Arial"/>
              </a:rPr>
              <a:t>4–5 мес.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900" y="4737100"/>
            <a:ext cx="47371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Пилот и подготовка к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900" y="5105400"/>
            <a:ext cx="4749800" cy="23967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A526C"/>
                </a:solidFill>
                <a:latin typeface="Arial"/>
              </a:rPr>
              <a:t>Проверка сценария в ИТ-команде и на учебном потоке.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" y="5905500"/>
            <a:ext cx="7188200" cy="226669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84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7228A"/>
                </a:solidFill>
                <a:latin typeface="Arial"/>
              </a:rPr>
              <a:t>Дополнительно: методика испытаний, права на ПО и экономика внедрения.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540500"/>
            <a:ext cx="10756900" cy="14478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A526C"/>
                </a:solidFill>
                <a:latin typeface="Arial"/>
              </a:rPr>
              <a:t>Сроки: «Акселератор.pdf», с. 5; дополнительные направления — предложение.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27200"/>
            <a:ext cx="8229600" cy="35346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483"/>
              </a:lnSpc>
              <a:spcBef>
                <a:spcPts val="0"/>
              </a:spcBef>
              <a:spcAft>
                <a:spcPts val="0"/>
              </a:spcAft>
            </a:pPr>
            <a:r>
              <a:rPr sz="1939" b="1">
                <a:solidFill>
                  <a:srgbClr val="1F1931"/>
                </a:solidFill>
                <a:latin typeface="Arial"/>
              </a:rPr>
              <a:t>Нужен путь от демо к доказанному эффекту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300" y="2362200"/>
            <a:ext cx="6985000" cy="9906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4700" y="2552700"/>
            <a:ext cx="50800" cy="6096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2476500"/>
            <a:ext cx="64516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01 Пилотные площадки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2844800"/>
            <a:ext cx="64262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ИТ-команда и учебный курс: измерить качество и время ревью.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" y="3467100"/>
            <a:ext cx="6985000" cy="9906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4700" y="3657600"/>
            <a:ext cx="50800" cy="6096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3581400"/>
            <a:ext cx="64516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02 Независимая экспертиза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3949700"/>
            <a:ext cx="64262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Оценить ошибки, ложные срабатывания и безопасность метода.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" y="4572000"/>
            <a:ext cx="6985000" cy="9906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C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4700" y="4762500"/>
            <a:ext cx="50800" cy="609600"/>
          </a:xfrm>
          <a:prstGeom prst="rect">
            <a:avLst/>
          </a:prstGeom>
          <a:solidFill>
            <a:srgbClr val="842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4686300"/>
            <a:ext cx="6451600" cy="28844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1F1931"/>
                </a:solidFill>
                <a:latin typeface="Arial"/>
              </a:rPr>
              <a:t>03 Менторство и консультации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054600"/>
            <a:ext cx="6426200" cy="24292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A526C"/>
                </a:solidFill>
                <a:latin typeface="Arial"/>
              </a:rPr>
              <a:t>Проверить B2B/B2Edu-модель и подготовить коммерческий пилот.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5803900"/>
            <a:ext cx="7467600" cy="22179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46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7228A"/>
                </a:solidFill>
                <a:latin typeface="Arial"/>
              </a:rPr>
              <a:t>Программа ДГУ TechNet заявляет обучение, наставничество и консалтинг.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53200"/>
            <a:ext cx="10756900" cy="14986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A526C"/>
                </a:solidFill>
                <a:latin typeface="Arial"/>
                <a:hlinkClick r:id="rId3"/>
              </a:rPr>
              <a:t>Описание программы ДГУ TechNet: pt.2035.university/accelerator/747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1841500"/>
            <a:ext cx="10655300" cy="452628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3264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Arial"/>
              </a:rPr>
              <a:t>Экспертиза — следующий контрольный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552700"/>
            <a:ext cx="10502900" cy="55829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E9FC"/>
                </a:solidFill>
                <a:latin typeface="Arial"/>
              </a:rPr>
              <a:t>В переданных материалах не приложены экспертные отзывы._x000B_Цитаты, ФИО и ссылки на профили здесь не подменяются вымыслом.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3683000"/>
            <a:ext cx="3060700" cy="1155700"/>
          </a:xfrm>
          <a:prstGeom prst="roundRect">
            <a:avLst>
              <a:gd name="adj" fmla="val 11000"/>
            </a:avLst>
          </a:prstGeom>
          <a:solidFill>
            <a:srgbClr val="2A153B"/>
          </a:solidFill>
          <a:ln w="12700">
            <a:solidFill>
              <a:srgbClr val="B87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3835400"/>
            <a:ext cx="3683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38DE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0800" y="3810000"/>
            <a:ext cx="2298700" cy="3144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Технология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4152900"/>
            <a:ext cx="2298700" cy="4282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1D3ED"/>
                </a:solidFill>
                <a:latin typeface="Arial"/>
              </a:rPr>
              <a:t>теоретическая_x000B_реализуемость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02100" y="3683000"/>
            <a:ext cx="3060700" cy="1155700"/>
          </a:xfrm>
          <a:prstGeom prst="roundRect">
            <a:avLst>
              <a:gd name="adj" fmla="val 11000"/>
            </a:avLst>
          </a:prstGeom>
          <a:solidFill>
            <a:srgbClr val="2A153B"/>
          </a:solidFill>
          <a:ln w="12700">
            <a:solidFill>
              <a:srgbClr val="B87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900" y="3835400"/>
            <a:ext cx="3683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38DE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1700" y="3810000"/>
            <a:ext cx="2298700" cy="3144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Рынок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1700" y="4152900"/>
            <a:ext cx="2298700" cy="4282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1D3ED"/>
                </a:solidFill>
                <a:latin typeface="Arial"/>
              </a:rPr>
              <a:t>коммерческий_x000B_потенциал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3000" y="3683000"/>
            <a:ext cx="3060700" cy="1155700"/>
          </a:xfrm>
          <a:prstGeom prst="roundRect">
            <a:avLst>
              <a:gd name="adj" fmla="val 11000"/>
            </a:avLst>
          </a:prstGeom>
          <a:solidFill>
            <a:srgbClr val="2A153B"/>
          </a:solidFill>
          <a:ln w="12700">
            <a:solidFill>
              <a:srgbClr val="B87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0800" y="3835400"/>
            <a:ext cx="368300" cy="23317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38DE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2600" y="3810000"/>
            <a:ext cx="2298700" cy="314452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Наука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4152900"/>
            <a:ext cx="2298700" cy="4282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1D3ED"/>
                </a:solidFill>
                <a:latin typeface="Arial"/>
              </a:rPr>
              <a:t>соответствие_x000B_принципам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100" y="5092700"/>
            <a:ext cx="10871200" cy="609600"/>
          </a:xfrm>
          <a:prstGeom prst="roundRect">
            <a:avLst>
              <a:gd name="adj" fmla="val 11000"/>
            </a:avLst>
          </a:prstGeom>
          <a:solidFill>
            <a:srgbClr val="2A153B"/>
          </a:solidFill>
          <a:ln w="10160">
            <a:solidFill>
              <a:srgbClr val="925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5257800"/>
            <a:ext cx="10541000" cy="268935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rial"/>
              </a:rPr>
              <a:t>Для финальной подачи: 5 заключений с ФИО и ссылками на ИС «Эксперты НТИ».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00" y="5905500"/>
            <a:ext cx="6159500" cy="246176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F4E9FC"/>
                </a:solidFill>
                <a:latin typeface="Arial"/>
              </a:rPr>
              <a:t>Исмаилов Ислам Шафикович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00" y="6197600"/>
            <a:ext cx="5969000" cy="225044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4E9FC"/>
                </a:solidFill>
                <a:latin typeface="Arial"/>
              </a:rPr>
              <a:t>aldarfgfg@gmail.com • +7 (928) 218-30-30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500" y="6565900"/>
            <a:ext cx="10756900" cy="13970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8C7E3"/>
                </a:solidFill>
                <a:latin typeface="Arial"/>
              </a:rPr>
              <a:t>Требования к экспертизе: «Шаблон презентации 2.0_2026.pdf», с. 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СинтексПруф — акселератор ДГУ / TechNet</dc:title>
  <dc:subject>Питч проекта в шаблоне акселератора ДГУ</dc:subject>
  <dc:creator>Проект СинтексПруф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