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hyperlink" Target="https://docs.sonarsource.com/sonarqube-server/quality-standards-administration/managing-rules/rules" TargetMode="External"/><Relationship Id="rId4" Type="http://schemas.openxmlformats.org/officeDocument/2006/relationships/hyperlink" Target="https://docs.coderabbit.ai/guides/code-review-overview" TargetMode="External"/><Relationship Id="rId5" Type="http://schemas.openxmlformats.org/officeDocument/2006/relationships/hyperlink" Target="https://docs.github.com/copilot/concepts/agents/coding-agent/about-coding-agent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hyperlink" Target="https://pt.2035.university/accelerator/747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hyperlink" Target="https://pt.2035.university/accelerator/747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" y="2184400"/>
            <a:ext cx="6604000" cy="257556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1728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E4CBFA"/>
                </a:solidFill>
                <a:latin typeface="Arial"/>
              </a:rPr>
              <a:t>ПРОЕКТ АКСЕЛЕРАТОРА ДГУ / TECHNET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2908300"/>
            <a:ext cx="8890000" cy="753364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5632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FFFFFF"/>
                </a:solidFill>
                <a:latin typeface="Arial"/>
              </a:rPr>
              <a:t>СинтексПруф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3771900"/>
            <a:ext cx="8445500" cy="718820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268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Платформа статического анализа_x000B_и ИИ-ревью программного кода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2300" y="5740400"/>
            <a:ext cx="8128000" cy="298196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2048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Исмаилов Ислам Шафикович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2300" y="6108700"/>
            <a:ext cx="9398000" cy="252679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1689"/>
              </a:lnSpc>
              <a:spcBef>
                <a:spcPts val="0"/>
              </a:spcBef>
              <a:spcAft>
                <a:spcPts val="0"/>
              </a:spcAft>
            </a:pPr>
            <a:r>
              <a:rPr sz="1320" b="0">
                <a:solidFill>
                  <a:srgbClr val="FFFFFF"/>
                </a:solidFill>
                <a:latin typeface="Arial"/>
              </a:rPr>
              <a:t>StevenScreamches@ya.ru • +7 (928) 218-30-30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2300" y="6591300"/>
            <a:ext cx="10756900" cy="142240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</a:pPr>
            <a:r>
              <a:rPr sz="819" b="0">
                <a:solidFill>
                  <a:srgbClr val="DDD2E9"/>
                </a:solidFill>
                <a:latin typeface="Arial"/>
              </a:rPr>
              <a:t>Источник: «Акселератор.pdf», с. 1, 6 • Программа ДГУ TechNet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3" name="Connector 2"/>
          <p:cNvCxnSpPr/>
          <p:nvPr/>
        </p:nvCxnSpPr>
        <p:spPr>
          <a:xfrm>
            <a:off x="419100" y="2095500"/>
            <a:ext cx="3695700" cy="0"/>
          </a:xfrm>
          <a:prstGeom prst="line">
            <a:avLst/>
          </a:prstGeom>
          <a:ln w="31750">
            <a:solidFill>
              <a:srgbClr val="8900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09600" y="2286000"/>
            <a:ext cx="10782300" cy="379476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2688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F1931"/>
                </a:solidFill>
                <a:latin typeface="Arial"/>
              </a:rPr>
              <a:t>Проверка кода не масштабируется вместе с потоком работ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6900" y="2933700"/>
            <a:ext cx="3505200" cy="2235200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 w="9525">
            <a:solidFill>
              <a:srgbClr val="D9C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49300" y="3124200"/>
            <a:ext cx="50800" cy="1854200"/>
          </a:xfrm>
          <a:prstGeom prst="rect">
            <a:avLst/>
          </a:prstGeom>
          <a:solidFill>
            <a:srgbClr val="8423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9800" y="3098800"/>
            <a:ext cx="2971800" cy="314452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2176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F1931"/>
                </a:solidFill>
                <a:latin typeface="Arial"/>
              </a:rPr>
              <a:t>Команды разработки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9800" y="3467100"/>
            <a:ext cx="2946400" cy="686714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1702"/>
              </a:lnSpc>
              <a:spcBef>
                <a:spcPts val="0"/>
              </a:spcBef>
              <a:spcAft>
                <a:spcPts val="0"/>
              </a:spcAft>
            </a:pPr>
            <a:r>
              <a:rPr sz="1330" b="0">
                <a:solidFill>
                  <a:srgbClr val="5A526C"/>
                </a:solidFill>
                <a:latin typeface="Arial"/>
              </a:rPr>
              <a:t>Ручной Code Review занимает_x000B_время опытных инженеров и_x000B_задерживает обратную связь.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2933700"/>
            <a:ext cx="3505200" cy="2235200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 w="9525">
            <a:solidFill>
              <a:srgbClr val="D9C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95800" y="3124200"/>
            <a:ext cx="50800" cy="1854200"/>
          </a:xfrm>
          <a:prstGeom prst="rect">
            <a:avLst/>
          </a:prstGeom>
          <a:solidFill>
            <a:srgbClr val="8423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6300" y="3098800"/>
            <a:ext cx="2971800" cy="314452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2176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F1931"/>
                </a:solidFill>
                <a:latin typeface="Arial"/>
              </a:rPr>
              <a:t>Образование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86300" y="3467100"/>
            <a:ext cx="2946400" cy="686714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1702"/>
              </a:lnSpc>
              <a:spcBef>
                <a:spcPts val="0"/>
              </a:spcBef>
              <a:spcAft>
                <a:spcPts val="0"/>
              </a:spcAft>
            </a:pPr>
            <a:r>
              <a:rPr sz="1330" b="0">
                <a:solidFill>
                  <a:srgbClr val="5A526C"/>
                </a:solidFill>
                <a:latin typeface="Arial"/>
              </a:rPr>
              <a:t>Одних тестов мало для оценки_x000B_памяти, алгоритмов и_x000B_самостоятельности решения.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89900" y="2933700"/>
            <a:ext cx="3505200" cy="2235200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 w="9525">
            <a:solidFill>
              <a:srgbClr val="D9C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42300" y="3124200"/>
            <a:ext cx="50800" cy="1854200"/>
          </a:xfrm>
          <a:prstGeom prst="rect">
            <a:avLst/>
          </a:prstGeom>
          <a:solidFill>
            <a:srgbClr val="8423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32800" y="3098800"/>
            <a:ext cx="2971800" cy="314452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2176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F1931"/>
                </a:solidFill>
                <a:latin typeface="Arial"/>
              </a:rPr>
              <a:t>ИИ-генерация кода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32800" y="3467100"/>
            <a:ext cx="2946400" cy="686714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1702"/>
              </a:lnSpc>
              <a:spcBef>
                <a:spcPts val="0"/>
              </a:spcBef>
              <a:spcAft>
                <a:spcPts val="0"/>
              </a:spcAft>
            </a:pPr>
            <a:r>
              <a:rPr sz="1330" b="0">
                <a:solidFill>
                  <a:srgbClr val="5A526C"/>
                </a:solidFill>
                <a:latin typeface="Arial"/>
              </a:rPr>
              <a:t>Предложенный LLM код может_x000B_содержать ошибки, слабые_x000B_места и лишнюю сложность.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2300" y="5537200"/>
            <a:ext cx="10655300" cy="437997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1574"/>
              </a:lnSpc>
              <a:spcBef>
                <a:spcPts val="0"/>
              </a:spcBef>
              <a:spcAft>
                <a:spcPts val="0"/>
              </a:spcAft>
            </a:pPr>
            <a:r>
              <a:rPr sz="1230" b="0">
                <a:solidFill>
                  <a:srgbClr val="57228A"/>
                </a:solidFill>
                <a:latin typeface="Arial"/>
              </a:rPr>
              <a:t>В исходном питче указано до 20–30% времени Senior/Lead на Code Review;_x000B_методика измерения и подтверждающие данные не приложены.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600" y="6502400"/>
            <a:ext cx="10756900" cy="139700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8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A526C"/>
                </a:solidFill>
                <a:latin typeface="Arial"/>
              </a:rPr>
              <a:t>Источник: «Акселератор.pdf», с. 2. Оценка 20–30% — тезис исходного питча, не проверенный замер.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22300" y="1739900"/>
            <a:ext cx="8394700" cy="411988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2944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F1931"/>
                </a:solidFill>
                <a:latin typeface="Arial"/>
              </a:rPr>
              <a:t>От дефекта — к понятному объяснению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2300" y="2209800"/>
            <a:ext cx="8788400" cy="542036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1984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5A526C"/>
                </a:solidFill>
                <a:latin typeface="Arial"/>
              </a:rPr>
              <a:t>Детерминированная проверка + ИИ-разбор: риски, асимптотика_x000B_и замечания с привязкой к строкам кода.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6900" y="2743200"/>
            <a:ext cx="7239000" cy="3606800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 w="16510">
            <a:solidFill>
              <a:srgbClr val="D9C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mvp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100" y="2819400"/>
            <a:ext cx="7086600" cy="35052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191500" y="2768600"/>
            <a:ext cx="3149600" cy="939800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 w="10160">
            <a:solidFill>
              <a:srgbClr val="D9C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69300" y="2882900"/>
            <a:ext cx="2768600" cy="275437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1868"/>
              </a:lnSpc>
              <a:spcBef>
                <a:spcPts val="0"/>
              </a:spcBef>
              <a:spcAft>
                <a:spcPts val="0"/>
              </a:spcAft>
            </a:pPr>
            <a:r>
              <a:rPr sz="1460" b="1">
                <a:solidFill>
                  <a:srgbClr val="1F1931"/>
                </a:solidFill>
                <a:latin typeface="Arial"/>
              </a:rPr>
              <a:t>Заявленная цель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69300" y="3200400"/>
            <a:ext cx="2768600" cy="382727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1356"/>
              </a:lnSpc>
              <a:spcBef>
                <a:spcPts val="0"/>
              </a:spcBef>
              <a:spcAft>
                <a:spcPts val="0"/>
              </a:spcAft>
            </a:pPr>
            <a:r>
              <a:rPr sz="1060" b="0">
                <a:solidFill>
                  <a:srgbClr val="57228A"/>
                </a:solidFill>
                <a:latin typeface="Arial"/>
              </a:rPr>
              <a:t>Отличать код человека от LLM;_x000B_точность ещё не подтверждена.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6527800"/>
            <a:ext cx="10756900" cy="139700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8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A526C"/>
                </a:solidFill>
                <a:latin typeface="Arial"/>
              </a:rPr>
              <a:t>Иллюстрация MVP: «Акселератор.pdf», с. 3 (из исходного файла, не новый результат тестирования).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22300" y="1752600"/>
            <a:ext cx="7213600" cy="371348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2624"/>
              </a:lnSpc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1F1931"/>
                </a:solidFill>
                <a:latin typeface="Arial"/>
              </a:rPr>
              <a:t>Правила сначала. ИИ — для объяснения.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2300" y="2298700"/>
            <a:ext cx="6184900" cy="762000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 w="10160">
            <a:solidFill>
              <a:srgbClr val="D9C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74700" y="2451100"/>
            <a:ext cx="457200" cy="457200"/>
          </a:xfrm>
          <a:prstGeom prst="ellipse">
            <a:avLst/>
          </a:prstGeom>
          <a:solidFill>
            <a:srgbClr val="8423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900" y="2540000"/>
            <a:ext cx="317500" cy="233172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ctr">
              <a:lnSpc>
                <a:spcPts val="1536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84300" y="2413000"/>
            <a:ext cx="5080000" cy="290068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1984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1F1931"/>
                </a:solidFill>
                <a:latin typeface="Arial"/>
              </a:rPr>
              <a:t>Ввод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4300" y="2717800"/>
            <a:ext cx="5207000" cy="242925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1612"/>
              </a:lnSpc>
              <a:spcBef>
                <a:spcPts val="0"/>
              </a:spcBef>
              <a:spcAft>
                <a:spcPts val="0"/>
              </a:spcAft>
            </a:pPr>
            <a:r>
              <a:rPr sz="1260" b="0">
                <a:solidFill>
                  <a:srgbClr val="5A526C"/>
                </a:solidFill>
                <a:latin typeface="Arial"/>
              </a:rPr>
              <a:t>Исходный код C, C++ или Python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2300" y="3162300"/>
            <a:ext cx="6184900" cy="762000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 w="10160">
            <a:solidFill>
              <a:srgbClr val="D9C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74700" y="3314700"/>
            <a:ext cx="457200" cy="457200"/>
          </a:xfrm>
          <a:prstGeom prst="ellipse">
            <a:avLst/>
          </a:prstGeom>
          <a:solidFill>
            <a:srgbClr val="8423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900" y="3403600"/>
            <a:ext cx="317500" cy="233172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ctr">
              <a:lnSpc>
                <a:spcPts val="1536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84300" y="3276600"/>
            <a:ext cx="5080000" cy="290068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1984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1F1931"/>
                </a:solidFill>
                <a:latin typeface="Arial"/>
              </a:rPr>
              <a:t>Анализ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4300" y="3581400"/>
            <a:ext cx="5207000" cy="242925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1612"/>
              </a:lnSpc>
              <a:spcBef>
                <a:spcPts val="0"/>
              </a:spcBef>
              <a:spcAft>
                <a:spcPts val="0"/>
              </a:spcAft>
            </a:pPr>
            <a:r>
              <a:rPr sz="1260" b="0">
                <a:solidFill>
                  <a:srgbClr val="5A526C"/>
                </a:solidFill>
                <a:latin typeface="Arial"/>
              </a:rPr>
              <a:t>Статические проверки и выявление дефектов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2300" y="4025900"/>
            <a:ext cx="6184900" cy="762000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 w="10160">
            <a:solidFill>
              <a:srgbClr val="D9C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74700" y="4178300"/>
            <a:ext cx="457200" cy="457200"/>
          </a:xfrm>
          <a:prstGeom prst="ellipse">
            <a:avLst/>
          </a:prstGeom>
          <a:solidFill>
            <a:srgbClr val="8423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900" y="4267200"/>
            <a:ext cx="317500" cy="233172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ctr">
              <a:lnSpc>
                <a:spcPts val="1536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4300" y="4140200"/>
            <a:ext cx="5080000" cy="290068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1984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1F1931"/>
                </a:solidFill>
                <a:latin typeface="Arial"/>
              </a:rPr>
              <a:t>ИИ-ревью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84300" y="4445000"/>
            <a:ext cx="5207000" cy="242925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1612"/>
              </a:lnSpc>
              <a:spcBef>
                <a:spcPts val="0"/>
              </a:spcBef>
              <a:spcAft>
                <a:spcPts val="0"/>
              </a:spcAft>
            </a:pPr>
            <a:r>
              <a:rPr sz="1260" b="0">
                <a:solidFill>
                  <a:srgbClr val="5A526C"/>
                </a:solidFill>
                <a:latin typeface="Arial"/>
              </a:rPr>
              <a:t>Интерпретация риска и качества решения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2300" y="4889500"/>
            <a:ext cx="6184900" cy="762000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 w="10160">
            <a:solidFill>
              <a:srgbClr val="D9C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74700" y="5041900"/>
            <a:ext cx="457200" cy="457200"/>
          </a:xfrm>
          <a:prstGeom prst="ellipse">
            <a:avLst/>
          </a:prstGeom>
          <a:solidFill>
            <a:srgbClr val="8423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0900" y="5130800"/>
            <a:ext cx="317500" cy="233172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ctr">
              <a:lnSpc>
                <a:spcPts val="1536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4300" y="5003800"/>
            <a:ext cx="5080000" cy="290068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1984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1F1931"/>
                </a:solidFill>
                <a:latin typeface="Arial"/>
              </a:rPr>
              <a:t>Отчёт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84300" y="5308600"/>
            <a:ext cx="5207000" cy="242925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1612"/>
              </a:lnSpc>
              <a:spcBef>
                <a:spcPts val="0"/>
              </a:spcBef>
              <a:spcAft>
                <a:spcPts val="0"/>
              </a:spcAft>
            </a:pPr>
            <a:r>
              <a:rPr sz="1260" b="0">
                <a:solidFill>
                  <a:srgbClr val="5A526C"/>
                </a:solidFill>
                <a:latin typeface="Arial"/>
              </a:rPr>
              <a:t>Приоритет и замечания по строкам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000" y="5842000"/>
            <a:ext cx="6375400" cy="221792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1446"/>
              </a:lnSpc>
              <a:spcBef>
                <a:spcPts val="0"/>
              </a:spcBef>
              <a:spcAft>
                <a:spcPts val="0"/>
              </a:spcAft>
            </a:pPr>
            <a:r>
              <a:rPr sz="1130" b="0">
                <a:solidFill>
                  <a:srgbClr val="57228A"/>
                </a:solidFill>
                <a:latin typeface="Arial"/>
              </a:rPr>
              <a:t>Стек из питча: React / Next.js • Python / FastAPI • Docker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9600" y="6502400"/>
            <a:ext cx="10756900" cy="142240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</a:pPr>
            <a:r>
              <a:rPr sz="819" b="0">
                <a:solidFill>
                  <a:srgbClr val="5A526C"/>
                </a:solidFill>
                <a:latin typeface="Arial"/>
              </a:rPr>
              <a:t>Источник стека: «Акселератор.pdf», с. 5; схема — представление продукта из питча.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58800" y="1663700"/>
            <a:ext cx="10871200" cy="350215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</a:pPr>
            <a:r>
              <a:rPr sz="1920" b="1">
                <a:solidFill>
                  <a:srgbClr val="1F1931"/>
                </a:solidFill>
                <a:latin typeface="Arial"/>
              </a:rPr>
              <a:t>Позиционирование: ревью кода для TechNet и EduNet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58800" y="2032000"/>
            <a:ext cx="10845800" cy="246176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1638"/>
              </a:lnSpc>
              <a:spcBef>
                <a:spcPts val="0"/>
              </a:spcBef>
              <a:spcAft>
                <a:spcPts val="0"/>
              </a:spcAft>
            </a:pPr>
            <a:r>
              <a:rPr sz="1280" b="0">
                <a:solidFill>
                  <a:srgbClr val="5A526C"/>
                </a:solidFill>
                <a:latin typeface="Arial"/>
              </a:rPr>
              <a:t>Сравнение сценариев по открытым описаниям, без измерения точности и цены.</a:t>
            </a:r>
          </a:p>
        </p:txBody>
      </p:sp>
      <p:sp>
        <p:nvSpPr>
          <p:cNvPr id="5" name="Rectangle 4"/>
          <p:cNvSpPr/>
          <p:nvPr/>
        </p:nvSpPr>
        <p:spPr>
          <a:xfrm>
            <a:off x="533400" y="2743200"/>
            <a:ext cx="2413000" cy="698500"/>
          </a:xfrm>
          <a:prstGeom prst="rect">
            <a:avLst/>
          </a:prstGeom>
          <a:solidFill>
            <a:srgbClr val="57228A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7700" y="2870200"/>
            <a:ext cx="2184400" cy="211836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1368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Критерий</a:t>
            </a:r>
          </a:p>
        </p:txBody>
      </p:sp>
      <p:sp>
        <p:nvSpPr>
          <p:cNvPr id="7" name="Rectangle 6"/>
          <p:cNvSpPr/>
          <p:nvPr/>
        </p:nvSpPr>
        <p:spPr>
          <a:xfrm>
            <a:off x="2946400" y="2743200"/>
            <a:ext cx="2159000" cy="698500"/>
          </a:xfrm>
          <a:prstGeom prst="rect">
            <a:avLst/>
          </a:prstGeom>
          <a:solidFill>
            <a:srgbClr val="57228A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60700" y="2870200"/>
            <a:ext cx="1930400" cy="385572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1368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СинтексПруф_x000B_проект ДГУ</a:t>
            </a:r>
          </a:p>
        </p:txBody>
      </p:sp>
      <p:sp>
        <p:nvSpPr>
          <p:cNvPr id="9" name="Rectangle 8"/>
          <p:cNvSpPr/>
          <p:nvPr/>
        </p:nvSpPr>
        <p:spPr>
          <a:xfrm>
            <a:off x="5105400" y="2743200"/>
            <a:ext cx="2159000" cy="698500"/>
          </a:xfrm>
          <a:prstGeom prst="rect">
            <a:avLst/>
          </a:prstGeom>
          <a:solidFill>
            <a:srgbClr val="57228A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19700" y="2870200"/>
            <a:ext cx="1930400" cy="541934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1322"/>
              </a:lnSpc>
              <a:spcBef>
                <a:spcPts val="0"/>
              </a:spcBef>
              <a:spcAft>
                <a:spcPts val="0"/>
              </a:spcAft>
            </a:pPr>
            <a:r>
              <a:rPr sz="1160" b="1">
                <a:solidFill>
                  <a:srgbClr val="FFFFFF"/>
                </a:solidFill>
                <a:latin typeface="Arial"/>
              </a:rPr>
              <a:t>SonarQube_x000B_SonarSource,_x000B_Швейцария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264400" y="2743200"/>
            <a:ext cx="2159000" cy="698500"/>
          </a:xfrm>
          <a:prstGeom prst="rect">
            <a:avLst/>
          </a:prstGeom>
          <a:solidFill>
            <a:srgbClr val="57228A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78700" y="2870200"/>
            <a:ext cx="1930400" cy="385572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1368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CodeRabbit_x000B_США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423400" y="2743200"/>
            <a:ext cx="2159000" cy="698500"/>
          </a:xfrm>
          <a:prstGeom prst="rect">
            <a:avLst/>
          </a:prstGeom>
          <a:solidFill>
            <a:srgbClr val="57228A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37700" y="2870200"/>
            <a:ext cx="1930400" cy="385572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1368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Copilot Review_x000B_GitHub, США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3400" y="3441700"/>
            <a:ext cx="2413000" cy="774700"/>
          </a:xfrm>
          <a:prstGeom prst="rect">
            <a:avLst/>
          </a:prstGeom>
          <a:solidFill>
            <a:srgbClr val="F4F0F9"/>
          </a:solidFill>
          <a:ln w="7620">
            <a:solidFill>
              <a:srgbClr val="D9C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7700" y="3581400"/>
            <a:ext cx="2209800" cy="222504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1452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1931"/>
                </a:solidFill>
                <a:latin typeface="Arial"/>
              </a:rPr>
              <a:t>Назначение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946400" y="3441700"/>
            <a:ext cx="2159000" cy="774700"/>
          </a:xfrm>
          <a:prstGeom prst="rect">
            <a:avLst/>
          </a:prstGeom>
          <a:solidFill>
            <a:srgbClr val="F4F0F9"/>
          </a:solidFill>
          <a:ln w="7620">
            <a:solidFill>
              <a:srgbClr val="D9C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60700" y="3581400"/>
            <a:ext cx="1955800" cy="400761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1427"/>
              </a:lnSpc>
              <a:spcBef>
                <a:spcPts val="0"/>
              </a:spcBef>
              <a:spcAft>
                <a:spcPts val="0"/>
              </a:spcAft>
            </a:pPr>
            <a:r>
              <a:rPr sz="1180" b="0">
                <a:solidFill>
                  <a:srgbClr val="1F1931"/>
                </a:solidFill>
                <a:latin typeface="Arial"/>
              </a:rPr>
              <a:t>Проверка кода_x000B_и учебных работ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05400" y="3441700"/>
            <a:ext cx="2159000" cy="774700"/>
          </a:xfrm>
          <a:prstGeom prst="rect">
            <a:avLst/>
          </a:prstGeom>
          <a:solidFill>
            <a:srgbClr val="F4F0F9"/>
          </a:solidFill>
          <a:ln w="7620">
            <a:solidFill>
              <a:srgbClr val="D9C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19700" y="3581400"/>
            <a:ext cx="1955800" cy="400761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1427"/>
              </a:lnSpc>
              <a:spcBef>
                <a:spcPts val="0"/>
              </a:spcBef>
              <a:spcAft>
                <a:spcPts val="0"/>
              </a:spcAft>
            </a:pPr>
            <a:r>
              <a:rPr sz="1180" b="0">
                <a:solidFill>
                  <a:srgbClr val="1F1931"/>
                </a:solidFill>
                <a:latin typeface="Arial"/>
              </a:rPr>
              <a:t>Качество и_x000B_безопасность ПО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64400" y="3441700"/>
            <a:ext cx="2159000" cy="774700"/>
          </a:xfrm>
          <a:prstGeom prst="rect">
            <a:avLst/>
          </a:prstGeom>
          <a:solidFill>
            <a:srgbClr val="F4F0F9"/>
          </a:solidFill>
          <a:ln w="7620">
            <a:solidFill>
              <a:srgbClr val="D9C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78700" y="3581400"/>
            <a:ext cx="1955800" cy="400761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1427"/>
              </a:lnSpc>
              <a:spcBef>
                <a:spcPts val="0"/>
              </a:spcBef>
              <a:spcAft>
                <a:spcPts val="0"/>
              </a:spcAft>
            </a:pPr>
            <a:r>
              <a:rPr sz="1180" b="0">
                <a:solidFill>
                  <a:srgbClr val="1F1931"/>
                </a:solidFill>
                <a:latin typeface="Arial"/>
              </a:rPr>
              <a:t>ИИ-ревью_x000B_pull requests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423400" y="3441700"/>
            <a:ext cx="2159000" cy="774700"/>
          </a:xfrm>
          <a:prstGeom prst="rect">
            <a:avLst/>
          </a:prstGeom>
          <a:solidFill>
            <a:srgbClr val="F4F0F9"/>
          </a:solidFill>
          <a:ln w="7620">
            <a:solidFill>
              <a:srgbClr val="D9C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37700" y="3581400"/>
            <a:ext cx="1955800" cy="400761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1427"/>
              </a:lnSpc>
              <a:spcBef>
                <a:spcPts val="0"/>
              </a:spcBef>
              <a:spcAft>
                <a:spcPts val="0"/>
              </a:spcAft>
            </a:pPr>
            <a:r>
              <a:rPr sz="1180" b="0">
                <a:solidFill>
                  <a:srgbClr val="1F1931"/>
                </a:solidFill>
                <a:latin typeface="Arial"/>
              </a:rPr>
              <a:t>ИИ-ревью_x000B_pull requests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33400" y="4216400"/>
            <a:ext cx="2413000" cy="774700"/>
          </a:xfrm>
          <a:prstGeom prst="rect">
            <a:avLst/>
          </a:prstGeom>
          <a:solidFill>
            <a:srgbClr val="FFFFFF"/>
          </a:solidFill>
          <a:ln w="7620">
            <a:solidFill>
              <a:srgbClr val="D9C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7700" y="4356100"/>
            <a:ext cx="2209800" cy="222504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1452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1931"/>
                </a:solidFill>
                <a:latin typeface="Arial"/>
              </a:rPr>
              <a:t>Основной подход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46400" y="4216400"/>
            <a:ext cx="2159000" cy="774700"/>
          </a:xfrm>
          <a:prstGeom prst="rect">
            <a:avLst/>
          </a:prstGeom>
          <a:solidFill>
            <a:srgbClr val="FFFFFF"/>
          </a:solidFill>
          <a:ln w="7620">
            <a:solidFill>
              <a:srgbClr val="D9C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60700" y="4356100"/>
            <a:ext cx="1955800" cy="400761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1427"/>
              </a:lnSpc>
              <a:spcBef>
                <a:spcPts val="0"/>
              </a:spcBef>
              <a:spcAft>
                <a:spcPts val="0"/>
              </a:spcAft>
            </a:pPr>
            <a:r>
              <a:rPr sz="1180" b="0">
                <a:solidFill>
                  <a:srgbClr val="1F1931"/>
                </a:solidFill>
                <a:latin typeface="Arial"/>
              </a:rPr>
              <a:t>Правила + ИИ_x000B_(заявлено)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05400" y="4216400"/>
            <a:ext cx="2159000" cy="774700"/>
          </a:xfrm>
          <a:prstGeom prst="rect">
            <a:avLst/>
          </a:prstGeom>
          <a:solidFill>
            <a:srgbClr val="FFFFFF"/>
          </a:solidFill>
          <a:ln w="7620">
            <a:solidFill>
              <a:srgbClr val="D9C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219700" y="4356100"/>
            <a:ext cx="1955800" cy="400761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1427"/>
              </a:lnSpc>
              <a:spcBef>
                <a:spcPts val="0"/>
              </a:spcBef>
              <a:spcAft>
                <a:spcPts val="0"/>
              </a:spcAft>
            </a:pPr>
            <a:r>
              <a:rPr sz="1180" b="0">
                <a:solidFill>
                  <a:srgbClr val="1F1931"/>
                </a:solidFill>
                <a:latin typeface="Arial"/>
              </a:rPr>
              <a:t>Правила; AI CodeFix_x000B_для ряда задач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264400" y="4216400"/>
            <a:ext cx="2159000" cy="774700"/>
          </a:xfrm>
          <a:prstGeom prst="rect">
            <a:avLst/>
          </a:prstGeom>
          <a:solidFill>
            <a:srgbClr val="FFFFFF"/>
          </a:solidFill>
          <a:ln w="7620">
            <a:solidFill>
              <a:srgbClr val="D9C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78700" y="4356100"/>
            <a:ext cx="1955800" cy="400761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1427"/>
              </a:lnSpc>
              <a:spcBef>
                <a:spcPts val="0"/>
              </a:spcBef>
              <a:spcAft>
                <a:spcPts val="0"/>
              </a:spcAft>
            </a:pPr>
            <a:r>
              <a:rPr sz="1180" b="0">
                <a:solidFill>
                  <a:srgbClr val="1F1931"/>
                </a:solidFill>
                <a:latin typeface="Arial"/>
              </a:rPr>
              <a:t>ИИ + статические_x000B_инструменты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423400" y="4216400"/>
            <a:ext cx="2159000" cy="774700"/>
          </a:xfrm>
          <a:prstGeom prst="rect">
            <a:avLst/>
          </a:prstGeom>
          <a:solidFill>
            <a:srgbClr val="FFFFFF"/>
          </a:solidFill>
          <a:ln w="7620">
            <a:solidFill>
              <a:srgbClr val="D9C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537700" y="4356100"/>
            <a:ext cx="1955800" cy="400761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1427"/>
              </a:lnSpc>
              <a:spcBef>
                <a:spcPts val="0"/>
              </a:spcBef>
              <a:spcAft>
                <a:spcPts val="0"/>
              </a:spcAft>
            </a:pPr>
            <a:r>
              <a:rPr sz="1180" b="0">
                <a:solidFill>
                  <a:srgbClr val="1F1931"/>
                </a:solidFill>
                <a:latin typeface="Arial"/>
              </a:rPr>
              <a:t>ИИ-обратная_x000B_связь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33400" y="4991100"/>
            <a:ext cx="2413000" cy="774700"/>
          </a:xfrm>
          <a:prstGeom prst="rect">
            <a:avLst/>
          </a:prstGeom>
          <a:solidFill>
            <a:srgbClr val="F4F0F9"/>
          </a:solidFill>
          <a:ln w="7620">
            <a:solidFill>
              <a:srgbClr val="D9C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7700" y="5130800"/>
            <a:ext cx="2209800" cy="222504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1452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1931"/>
                </a:solidFill>
                <a:latin typeface="Arial"/>
              </a:rPr>
              <a:t>Рабочий процесс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946400" y="4991100"/>
            <a:ext cx="2159000" cy="774700"/>
          </a:xfrm>
          <a:prstGeom prst="rect">
            <a:avLst/>
          </a:prstGeom>
          <a:solidFill>
            <a:srgbClr val="F4F0F9"/>
          </a:solidFill>
          <a:ln w="7620">
            <a:solidFill>
              <a:srgbClr val="D9C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060700" y="5130800"/>
            <a:ext cx="1955800" cy="400761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1427"/>
              </a:lnSpc>
              <a:spcBef>
                <a:spcPts val="0"/>
              </a:spcBef>
              <a:spcAft>
                <a:spcPts val="0"/>
              </a:spcAft>
            </a:pPr>
            <a:r>
              <a:rPr sz="1180" b="0">
                <a:solidFill>
                  <a:srgbClr val="1F1931"/>
                </a:solidFill>
                <a:latin typeface="Arial"/>
              </a:rPr>
              <a:t>Загрузка кода,_x000B_отчёт по строкам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105400" y="4991100"/>
            <a:ext cx="2159000" cy="774700"/>
          </a:xfrm>
          <a:prstGeom prst="rect">
            <a:avLst/>
          </a:prstGeom>
          <a:solidFill>
            <a:srgbClr val="F4F0F9"/>
          </a:solidFill>
          <a:ln w="7620">
            <a:solidFill>
              <a:srgbClr val="D9C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219700" y="5130800"/>
            <a:ext cx="1955800" cy="400761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1427"/>
              </a:lnSpc>
              <a:spcBef>
                <a:spcPts val="0"/>
              </a:spcBef>
              <a:spcAft>
                <a:spcPts val="0"/>
              </a:spcAft>
            </a:pPr>
            <a:r>
              <a:rPr sz="1180" b="0">
                <a:solidFill>
                  <a:srgbClr val="1F1931"/>
                </a:solidFill>
                <a:latin typeface="Arial"/>
              </a:rPr>
              <a:t>Анализ проекта,_x000B_список issues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264400" y="4991100"/>
            <a:ext cx="2159000" cy="774700"/>
          </a:xfrm>
          <a:prstGeom prst="rect">
            <a:avLst/>
          </a:prstGeom>
          <a:solidFill>
            <a:srgbClr val="F4F0F9"/>
          </a:solidFill>
          <a:ln w="7620">
            <a:solidFill>
              <a:srgbClr val="D9C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378700" y="5130800"/>
            <a:ext cx="1955800" cy="400761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1427"/>
              </a:lnSpc>
              <a:spcBef>
                <a:spcPts val="0"/>
              </a:spcBef>
              <a:spcAft>
                <a:spcPts val="0"/>
              </a:spcAft>
            </a:pPr>
            <a:r>
              <a:rPr sz="1180" b="0">
                <a:solidFill>
                  <a:srgbClr val="1F1931"/>
                </a:solidFill>
                <a:latin typeface="Arial"/>
              </a:rPr>
              <a:t>Коммиты и_x000B_pull requests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423400" y="4991100"/>
            <a:ext cx="2159000" cy="774700"/>
          </a:xfrm>
          <a:prstGeom prst="rect">
            <a:avLst/>
          </a:prstGeom>
          <a:solidFill>
            <a:srgbClr val="F4F0F9"/>
          </a:solidFill>
          <a:ln w="7620">
            <a:solidFill>
              <a:srgbClr val="D9C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537700" y="5130800"/>
            <a:ext cx="1955800" cy="219430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1427"/>
              </a:lnSpc>
              <a:spcBef>
                <a:spcPts val="0"/>
              </a:spcBef>
              <a:spcAft>
                <a:spcPts val="0"/>
              </a:spcAft>
            </a:pPr>
            <a:r>
              <a:rPr sz="1180" b="0">
                <a:solidFill>
                  <a:srgbClr val="1F1931"/>
                </a:solidFill>
                <a:latin typeface="Arial"/>
              </a:rPr>
              <a:t>PR и IDE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58800" y="5905500"/>
            <a:ext cx="10795000" cy="411988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147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7228A"/>
                </a:solidFill>
                <a:latin typeface="Arial"/>
              </a:rPr>
              <a:t>Вывод: преимущество в учебном сценарии — гипотеза; нужны_x000B_сопоставимые испытания по качеству, времени и стоимости.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9600" y="6553200"/>
            <a:ext cx="1900458" cy="140970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810"/>
              </a:lnSpc>
              <a:spcBef>
                <a:spcPts val="0"/>
              </a:spcBef>
              <a:spcAft>
                <a:spcPts val="0"/>
              </a:spcAft>
            </a:pPr>
            <a:r>
              <a:rPr sz="810" b="0">
                <a:solidFill>
                  <a:srgbClr val="5A526C"/>
                </a:solidFill>
                <a:latin typeface="Arial"/>
              </a:rPr>
              <a:t>Источники: «Акселератор.pdf» •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510058" y="6553200"/>
            <a:ext cx="896622" cy="140970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810"/>
              </a:lnSpc>
              <a:spcBef>
                <a:spcPts val="0"/>
              </a:spcBef>
              <a:spcAft>
                <a:spcPts val="0"/>
              </a:spcAft>
            </a:pPr>
            <a:r>
              <a:rPr sz="810" b="0">
                <a:solidFill>
                  <a:srgbClr val="5A526C"/>
                </a:solidFill>
                <a:latin typeface="Arial"/>
                <a:hlinkClick r:id="rId3"/>
              </a:rPr>
              <a:t>SonarQube Docs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06681" y="6553200"/>
            <a:ext cx="229574" cy="140970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810"/>
              </a:lnSpc>
              <a:spcBef>
                <a:spcPts val="0"/>
              </a:spcBef>
              <a:spcAft>
                <a:spcPts val="0"/>
              </a:spcAft>
            </a:pPr>
            <a:r>
              <a:rPr sz="810" b="0">
                <a:solidFill>
                  <a:srgbClr val="5A526C"/>
                </a:solidFill>
                <a:latin typeface="Arial"/>
              </a:rPr>
              <a:t>•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36256" y="6553200"/>
            <a:ext cx="920481" cy="140970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810"/>
              </a:lnSpc>
              <a:spcBef>
                <a:spcPts val="0"/>
              </a:spcBef>
              <a:spcAft>
                <a:spcPts val="0"/>
              </a:spcAft>
            </a:pPr>
            <a:r>
              <a:rPr sz="810" b="0">
                <a:solidFill>
                  <a:srgbClr val="5A526C"/>
                </a:solidFill>
                <a:latin typeface="Arial"/>
                <a:hlinkClick r:id="rId4"/>
              </a:rPr>
              <a:t>CodeRabbit Docs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56737" y="6553200"/>
            <a:ext cx="229574" cy="140970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810"/>
              </a:lnSpc>
              <a:spcBef>
                <a:spcPts val="0"/>
              </a:spcBef>
              <a:spcAft>
                <a:spcPts val="0"/>
              </a:spcAft>
            </a:pPr>
            <a:r>
              <a:rPr sz="810" b="0">
                <a:solidFill>
                  <a:srgbClr val="5A526C"/>
                </a:solidFill>
                <a:latin typeface="Arial"/>
              </a:rPr>
              <a:t>•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786312" y="6553200"/>
            <a:ext cx="679580" cy="140970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810"/>
              </a:lnSpc>
              <a:spcBef>
                <a:spcPts val="0"/>
              </a:spcBef>
              <a:spcAft>
                <a:spcPts val="0"/>
              </a:spcAft>
            </a:pPr>
            <a:r>
              <a:rPr sz="810" b="0">
                <a:solidFill>
                  <a:srgbClr val="5A526C"/>
                </a:solidFill>
                <a:latin typeface="Arial"/>
                <a:hlinkClick r:id="rId5"/>
              </a:rPr>
              <a:t>GitHub Docs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65893" y="6553200"/>
            <a:ext cx="695955" cy="140970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810"/>
              </a:lnSpc>
              <a:spcBef>
                <a:spcPts val="0"/>
              </a:spcBef>
              <a:spcAft>
                <a:spcPts val="0"/>
              </a:spcAft>
            </a:pPr>
            <a:r>
              <a:rPr sz="810" b="0">
                <a:solidFill>
                  <a:srgbClr val="5A526C"/>
                </a:solidFill>
                <a:latin typeface="Arial"/>
              </a:rPr>
              <a:t>(окт. 2026)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" y="1663700"/>
            <a:ext cx="8953500" cy="374599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2649"/>
              </a:lnSpc>
              <a:spcBef>
                <a:spcPts val="0"/>
              </a:spcBef>
              <a:spcAft>
                <a:spcPts val="0"/>
              </a:spcAft>
            </a:pPr>
            <a:r>
              <a:rPr sz="2070" b="1">
                <a:solidFill>
                  <a:srgbClr val="1F1931"/>
                </a:solidFill>
                <a:latin typeface="Arial"/>
              </a:rPr>
              <a:t>Кто использует и кто может платить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09600" y="2247900"/>
            <a:ext cx="7162800" cy="1054100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 w="9525">
            <a:solidFill>
              <a:srgbClr val="D9C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2000" y="2438400"/>
            <a:ext cx="50800" cy="673100"/>
          </a:xfrm>
          <a:prstGeom prst="rect">
            <a:avLst/>
          </a:prstGeom>
          <a:solidFill>
            <a:srgbClr val="8423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52500" y="2374900"/>
            <a:ext cx="6629400" cy="301447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2073"/>
              </a:lnSpc>
              <a:spcBef>
                <a:spcPts val="0"/>
              </a:spcBef>
              <a:spcAft>
                <a:spcPts val="0"/>
              </a:spcAft>
            </a:pPr>
            <a:r>
              <a:rPr sz="1620" b="1">
                <a:solidFill>
                  <a:srgbClr val="1F1931"/>
                </a:solidFill>
                <a:latin typeface="Arial"/>
              </a:rPr>
              <a:t>TechNet / ИТ-команды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2500" y="2730500"/>
            <a:ext cx="6604000" cy="454253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1638"/>
              </a:lnSpc>
              <a:spcBef>
                <a:spcPts val="0"/>
              </a:spcBef>
              <a:spcAft>
                <a:spcPts val="0"/>
              </a:spcAft>
            </a:pPr>
            <a:r>
              <a:rPr sz="1280" b="0">
                <a:solidFill>
                  <a:srgbClr val="5A526C"/>
                </a:solidFill>
                <a:latin typeface="Arial"/>
              </a:rPr>
              <a:t>Первичный фильтр перед ручным ревью; покупатель — руководитель_x000B_разработки.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9600" y="3429000"/>
            <a:ext cx="7162800" cy="1054100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 w="9525">
            <a:solidFill>
              <a:srgbClr val="D9C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2000" y="3619500"/>
            <a:ext cx="50800" cy="673100"/>
          </a:xfrm>
          <a:prstGeom prst="rect">
            <a:avLst/>
          </a:prstGeom>
          <a:solidFill>
            <a:srgbClr val="8423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2500" y="3556000"/>
            <a:ext cx="6629400" cy="301447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2073"/>
              </a:lnSpc>
              <a:spcBef>
                <a:spcPts val="0"/>
              </a:spcBef>
              <a:spcAft>
                <a:spcPts val="0"/>
              </a:spcAft>
            </a:pPr>
            <a:r>
              <a:rPr sz="1620" b="1">
                <a:solidFill>
                  <a:srgbClr val="1F1931"/>
                </a:solidFill>
                <a:latin typeface="Arial"/>
              </a:rPr>
              <a:t>EduNet / преподаватели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500" y="3911600"/>
            <a:ext cx="6604000" cy="246176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1638"/>
              </a:lnSpc>
              <a:spcBef>
                <a:spcPts val="0"/>
              </a:spcBef>
              <a:spcAft>
                <a:spcPts val="0"/>
              </a:spcAft>
            </a:pPr>
            <a:r>
              <a:rPr sz="1280" b="0">
                <a:solidFill>
                  <a:srgbClr val="5A526C"/>
                </a:solidFill>
                <a:latin typeface="Arial"/>
              </a:rPr>
              <a:t>Потоковая проверка работ и понятная обратная связь обучающимся.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9600" y="4610100"/>
            <a:ext cx="7162800" cy="1054100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 w="9525">
            <a:solidFill>
              <a:srgbClr val="D9C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62000" y="4800600"/>
            <a:ext cx="50800" cy="673100"/>
          </a:xfrm>
          <a:prstGeom prst="rect">
            <a:avLst/>
          </a:prstGeom>
          <a:solidFill>
            <a:srgbClr val="8423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2500" y="4737100"/>
            <a:ext cx="6629400" cy="301447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2073"/>
              </a:lnSpc>
              <a:spcBef>
                <a:spcPts val="0"/>
              </a:spcBef>
              <a:spcAft>
                <a:spcPts val="0"/>
              </a:spcAft>
            </a:pPr>
            <a:r>
              <a:rPr sz="1620" b="1">
                <a:solidFill>
                  <a:srgbClr val="1F1931"/>
                </a:solidFill>
                <a:latin typeface="Arial"/>
              </a:rPr>
              <a:t>HR / обучающие программы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5092700"/>
            <a:ext cx="6604000" cy="246176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1638"/>
              </a:lnSpc>
              <a:spcBef>
                <a:spcPts val="0"/>
              </a:spcBef>
              <a:spcAft>
                <a:spcPts val="0"/>
              </a:spcAft>
            </a:pPr>
            <a:r>
              <a:rPr sz="1280" b="0">
                <a:solidFill>
                  <a:srgbClr val="5A526C"/>
                </a:solidFill>
                <a:latin typeface="Arial"/>
              </a:rPr>
              <a:t>Разбор тестовых заданий и сопоставимая оценка решений кандидатов.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9600" y="5829300"/>
            <a:ext cx="7505700" cy="533400"/>
          </a:xfrm>
          <a:prstGeom prst="roundRect">
            <a:avLst>
              <a:gd name="adj" fmla="val 11000"/>
            </a:avLst>
          </a:prstGeom>
          <a:solidFill>
            <a:srgbClr val="F3E6FC"/>
          </a:solidFill>
          <a:ln w="10160">
            <a:solidFill>
              <a:srgbClr val="D9C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4700" y="5956300"/>
            <a:ext cx="7251700" cy="234797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1548"/>
              </a:lnSpc>
              <a:spcBef>
                <a:spcPts val="0"/>
              </a:spcBef>
              <a:spcAft>
                <a:spcPts val="0"/>
              </a:spcAft>
            </a:pPr>
            <a:r>
              <a:rPr sz="1210" b="1">
                <a:solidFill>
                  <a:srgbClr val="57228A"/>
                </a:solidFill>
                <a:latin typeface="Arial"/>
              </a:rPr>
              <a:t>Гипотеза: B2B/B2Edu-подписка; цену и размер рынка уточнят пилоты.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600" y="6553200"/>
            <a:ext cx="10756900" cy="142240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</a:pPr>
            <a:r>
              <a:rPr sz="819" b="0">
                <a:solidFill>
                  <a:srgbClr val="5A526C"/>
                </a:solidFill>
                <a:latin typeface="Arial"/>
              </a:rPr>
              <a:t>Сегменты из «Акселератор.pdf», с. 4; модель оплаты — гипотеза, не факт продаж.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22300" y="1714500"/>
            <a:ext cx="7785100" cy="317703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</a:pPr>
            <a:r>
              <a:rPr sz="1720" b="1">
                <a:solidFill>
                  <a:srgbClr val="1F1931"/>
                </a:solidFill>
                <a:latin typeface="Arial"/>
              </a:rPr>
              <a:t>В исходных материалах указан один контакт проекта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2300" y="2336800"/>
            <a:ext cx="6807200" cy="1752600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 w="10160">
            <a:solidFill>
              <a:srgbClr val="D9C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0900" y="2540000"/>
            <a:ext cx="6197600" cy="382727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2713"/>
              </a:lnSpc>
              <a:spcBef>
                <a:spcPts val="0"/>
              </a:spcBef>
              <a:spcAft>
                <a:spcPts val="0"/>
              </a:spcAft>
            </a:pPr>
            <a:r>
              <a:rPr sz="2120" b="1">
                <a:solidFill>
                  <a:srgbClr val="1F1931"/>
                </a:solidFill>
                <a:latin typeface="Arial"/>
              </a:rPr>
              <a:t>Исмаилов Ислам Шафикович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900" y="2971800"/>
            <a:ext cx="6223000" cy="285191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1945"/>
              </a:lnSpc>
              <a:spcBef>
                <a:spcPts val="0"/>
              </a:spcBef>
              <a:spcAft>
                <a:spcPts val="0"/>
              </a:spcAft>
            </a:pPr>
            <a:r>
              <a:rPr sz="1520" b="0">
                <a:solidFill>
                  <a:srgbClr val="57228A"/>
                </a:solidFill>
                <a:latin typeface="Arial"/>
              </a:rPr>
              <a:t>Контакт проекта «СинтексПруф»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900" y="3352800"/>
            <a:ext cx="6273800" cy="487375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1768"/>
              </a:lnSpc>
              <a:spcBef>
                <a:spcPts val="0"/>
              </a:spcBef>
              <a:spcAft>
                <a:spcPts val="0"/>
              </a:spcAft>
            </a:pPr>
            <a:r>
              <a:rPr sz="1320" b="0">
                <a:solidFill>
                  <a:srgbClr val="5A526C"/>
                </a:solidFill>
                <a:latin typeface="Arial"/>
              </a:rPr>
              <a:t>StevenScreamches@ya.ru_x000B_+7 (928) 218-30-30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300" y="4330700"/>
            <a:ext cx="6807200" cy="1333500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 w="9525">
            <a:solidFill>
              <a:srgbClr val="D9C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4700" y="4521200"/>
            <a:ext cx="50800" cy="952500"/>
          </a:xfrm>
          <a:prstGeom prst="rect">
            <a:avLst/>
          </a:prstGeom>
          <a:solidFill>
            <a:srgbClr val="8423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5200" y="4470400"/>
            <a:ext cx="6273800" cy="301447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2073"/>
              </a:lnSpc>
              <a:spcBef>
                <a:spcPts val="0"/>
              </a:spcBef>
              <a:spcAft>
                <a:spcPts val="0"/>
              </a:spcAft>
            </a:pPr>
            <a:r>
              <a:rPr sz="1620" b="1">
                <a:solidFill>
                  <a:srgbClr val="1F1931"/>
                </a:solidFill>
                <a:latin typeface="Arial"/>
              </a:rPr>
              <a:t>Компетенции для усиления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5200" y="4889500"/>
            <a:ext cx="6248400" cy="252679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1689"/>
              </a:lnSpc>
              <a:spcBef>
                <a:spcPts val="0"/>
              </a:spcBef>
              <a:spcAft>
                <a:spcPts val="0"/>
              </a:spcAft>
            </a:pPr>
            <a:r>
              <a:rPr sz="1320" b="0">
                <a:solidFill>
                  <a:srgbClr val="5A526C"/>
                </a:solidFill>
                <a:latin typeface="Arial"/>
              </a:rPr>
              <a:t>Инженерия анализа кода · ИИ/ML · продукт и B2B-пилоты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700" y="5854700"/>
            <a:ext cx="6959600" cy="223418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1459"/>
              </a:lnSpc>
              <a:spcBef>
                <a:spcPts val="0"/>
              </a:spcBef>
              <a:spcAft>
                <a:spcPts val="0"/>
              </a:spcAft>
            </a:pPr>
            <a:r>
              <a:rPr sz="1140" b="0">
                <a:solidFill>
                  <a:srgbClr val="5A526C"/>
                </a:solidFill>
                <a:latin typeface="Arial"/>
              </a:rPr>
              <a:t>Вуз, курс, опыт и полный состав команды в источниках не приведены.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6502400"/>
            <a:ext cx="10756900" cy="142240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</a:pPr>
            <a:r>
              <a:rPr sz="819" b="0">
                <a:solidFill>
                  <a:srgbClr val="5A526C"/>
                </a:solidFill>
                <a:latin typeface="Arial"/>
              </a:rPr>
              <a:t>Источник контактов: «Акселератор.pdf», с. 6. Роли для усиления — предложение.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22300" y="1727200"/>
            <a:ext cx="7848600" cy="346964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2432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F1931"/>
                </a:solidFill>
                <a:latin typeface="Arial"/>
              </a:rPr>
              <a:t>Подтверждённых партнёрств в материалах нет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2300" y="2336800"/>
            <a:ext cx="6756400" cy="1016000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 w="9525">
            <a:solidFill>
              <a:srgbClr val="D9C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4700" y="2527300"/>
            <a:ext cx="50800" cy="635000"/>
          </a:xfrm>
          <a:prstGeom prst="rect">
            <a:avLst/>
          </a:prstGeom>
          <a:solidFill>
            <a:srgbClr val="8423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5200" y="2451100"/>
            <a:ext cx="6223000" cy="294944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2022"/>
              </a:lnSpc>
              <a:spcBef>
                <a:spcPts val="0"/>
              </a:spcBef>
              <a:spcAft>
                <a:spcPts val="0"/>
              </a:spcAft>
            </a:pPr>
            <a:r>
              <a:rPr sz="1580" b="1">
                <a:solidFill>
                  <a:srgbClr val="1F1931"/>
                </a:solidFill>
                <a:latin typeface="Arial"/>
              </a:rPr>
              <a:t>Пилотная ИТ-команда TechNet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5200" y="2806700"/>
            <a:ext cx="6197600" cy="441248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240" b="0">
                <a:solidFill>
                  <a:srgbClr val="5A526C"/>
                </a:solidFill>
                <a:latin typeface="Arial"/>
              </a:rPr>
              <a:t>Нужен разбор реального C/C++/Python-кода и сравнение с ручным_x000B_ревью.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300" y="3454400"/>
            <a:ext cx="6756400" cy="1016000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 w="9525">
            <a:solidFill>
              <a:srgbClr val="D9C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4700" y="3644900"/>
            <a:ext cx="50800" cy="635000"/>
          </a:xfrm>
          <a:prstGeom prst="rect">
            <a:avLst/>
          </a:prstGeom>
          <a:solidFill>
            <a:srgbClr val="8423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5200" y="3568700"/>
            <a:ext cx="6223000" cy="294944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2022"/>
              </a:lnSpc>
              <a:spcBef>
                <a:spcPts val="0"/>
              </a:spcBef>
              <a:spcAft>
                <a:spcPts val="0"/>
              </a:spcAft>
            </a:pPr>
            <a:r>
              <a:rPr sz="1580" b="1">
                <a:solidFill>
                  <a:srgbClr val="1F1931"/>
                </a:solidFill>
                <a:latin typeface="Arial"/>
              </a:rPr>
              <a:t>Учебная площадка EduNet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5200" y="3924300"/>
            <a:ext cx="6197600" cy="239674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240" b="0">
                <a:solidFill>
                  <a:srgbClr val="5A526C"/>
                </a:solidFill>
                <a:latin typeface="Arial"/>
              </a:rPr>
              <a:t>Нужны обезличенные работы и эталонные оценки преподавателей.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2300" y="4572000"/>
            <a:ext cx="6756400" cy="1016000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 w="9525">
            <a:solidFill>
              <a:srgbClr val="D9C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4700" y="4762500"/>
            <a:ext cx="50800" cy="635000"/>
          </a:xfrm>
          <a:prstGeom prst="rect">
            <a:avLst/>
          </a:prstGeom>
          <a:solidFill>
            <a:srgbClr val="8423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5200" y="4686300"/>
            <a:ext cx="6223000" cy="294944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2022"/>
              </a:lnSpc>
              <a:spcBef>
                <a:spcPts val="0"/>
              </a:spcBef>
              <a:spcAft>
                <a:spcPts val="0"/>
              </a:spcAft>
            </a:pPr>
            <a:r>
              <a:rPr sz="1580" b="1">
                <a:solidFill>
                  <a:srgbClr val="1F1931"/>
                </a:solidFill>
                <a:latin typeface="Arial"/>
              </a:rPr>
              <a:t>Экспертиза акселератора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5200" y="5041900"/>
            <a:ext cx="6197600" cy="239674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240" b="0">
                <a:solidFill>
                  <a:srgbClr val="5A526C"/>
                </a:solidFill>
                <a:latin typeface="Arial"/>
              </a:rPr>
              <a:t>Технологический аудит, наставничество и консультации по пилоту.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000" y="5753100"/>
            <a:ext cx="7353300" cy="220167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1433"/>
              </a:lnSpc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57228A"/>
                </a:solidFill>
                <a:latin typeface="Arial"/>
              </a:rPr>
              <a:t>Логотипы из исходного слайда обозначали аудиторию, не партнёров.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6553200"/>
            <a:ext cx="10756900" cy="139700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8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A526C"/>
                </a:solidFill>
                <a:latin typeface="Arial"/>
                <a:hlinkClick r:id="rId3"/>
              </a:rPr>
              <a:t>Источники: «Акселератор.pdf», с. 4–5; описание программы: pt.2035.university/accelerator/747.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6100" y="1511300"/>
            <a:ext cx="11163300" cy="301447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2073"/>
              </a:lnSpc>
              <a:spcBef>
                <a:spcPts val="0"/>
              </a:spcBef>
              <a:spcAft>
                <a:spcPts val="0"/>
              </a:spcAft>
            </a:pPr>
            <a:r>
              <a:rPr sz="1620" b="1">
                <a:solidFill>
                  <a:srgbClr val="1F1931"/>
                </a:solidFill>
                <a:latin typeface="Arial"/>
              </a:rPr>
              <a:t>В питче показан экран «живого демо»; протоколы испытаний не приложены.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6100" y="2057400"/>
            <a:ext cx="2603500" cy="495300"/>
          </a:xfrm>
          <a:prstGeom prst="roundRect">
            <a:avLst>
              <a:gd name="adj" fmla="val 11000"/>
            </a:avLst>
          </a:prstGeom>
          <a:solidFill>
            <a:srgbClr val="57228A"/>
          </a:solidFill>
          <a:ln w="10160">
            <a:solidFill>
              <a:srgbClr val="572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3900" y="2171700"/>
            <a:ext cx="2222500" cy="283565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1932"/>
              </a:lnSpc>
              <a:spcBef>
                <a:spcPts val="0"/>
              </a:spcBef>
              <a:spcAft>
                <a:spcPts val="0"/>
              </a:spcAft>
            </a:pPr>
            <a:r>
              <a:rPr sz="1510" b="1">
                <a:solidFill>
                  <a:srgbClr val="FFFFFF"/>
                </a:solidFill>
                <a:latin typeface="Arial"/>
              </a:rPr>
              <a:t>Ориентир УГТ 4–6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40100" y="2082800"/>
            <a:ext cx="8153400" cy="454253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1638"/>
              </a:lnSpc>
              <a:spcBef>
                <a:spcPts val="0"/>
              </a:spcBef>
              <a:spcAft>
                <a:spcPts val="0"/>
              </a:spcAft>
            </a:pPr>
            <a:r>
              <a:rPr sz="1280" b="0">
                <a:solidFill>
                  <a:srgbClr val="5A526C"/>
                </a:solidFill>
                <a:latin typeface="Arial"/>
              </a:rPr>
              <a:t>Оценка по шкале шаблона, не подтверждённый официальный статус._x000B_Пилот, метрики точности и отзывы ещё необходимо документировать.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6100" y="2857500"/>
            <a:ext cx="10972800" cy="207162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1331"/>
              </a:lnSpc>
              <a:spcBef>
                <a:spcPts val="0"/>
              </a:spcBef>
              <a:spcAft>
                <a:spcPts val="0"/>
              </a:spcAft>
            </a:pPr>
            <a:r>
              <a:rPr sz="1040" b="1">
                <a:solidFill>
                  <a:srgbClr val="57228A"/>
                </a:solidFill>
                <a:latin typeface="Arial"/>
              </a:rPr>
              <a:t>КАРТА ПОДТВЕРЖДЕНИЙ ПО ШКАЛЕ УГТ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8800" y="3302000"/>
            <a:ext cx="1689100" cy="234797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1548"/>
              </a:lnSpc>
              <a:spcBef>
                <a:spcPts val="0"/>
              </a:spcBef>
              <a:spcAft>
                <a:spcPts val="0"/>
              </a:spcAft>
            </a:pPr>
            <a:r>
              <a:rPr sz="1210" b="1">
                <a:solidFill>
                  <a:srgbClr val="1F1931"/>
                </a:solidFill>
                <a:latin typeface="Arial"/>
              </a:rPr>
              <a:t>УГТ / этап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25700" y="3302000"/>
            <a:ext cx="4102100" cy="234797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1548"/>
              </a:lnSpc>
              <a:spcBef>
                <a:spcPts val="0"/>
              </a:spcBef>
              <a:spcAft>
                <a:spcPts val="0"/>
              </a:spcAft>
            </a:pPr>
            <a:r>
              <a:rPr sz="1210" b="1">
                <a:solidFill>
                  <a:srgbClr val="1F1931"/>
                </a:solidFill>
                <a:latin typeface="Arial"/>
              </a:rPr>
              <a:t>Что есть сейчас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32600" y="3302000"/>
            <a:ext cx="4711700" cy="234797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1548"/>
              </a:lnSpc>
              <a:spcBef>
                <a:spcPts val="0"/>
              </a:spcBef>
              <a:spcAft>
                <a:spcPts val="0"/>
              </a:spcAft>
            </a:pPr>
            <a:r>
              <a:rPr sz="1210" b="1">
                <a:solidFill>
                  <a:srgbClr val="1F1931"/>
                </a:solidFill>
                <a:latin typeface="Arial"/>
              </a:rPr>
              <a:t>Артефакт / следующий шаг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8800" y="3810000"/>
            <a:ext cx="1600200" cy="233172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1536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F1931"/>
                </a:solidFill>
                <a:latin typeface="Arial"/>
              </a:rPr>
              <a:t>1–3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25700" y="3810000"/>
            <a:ext cx="4216400" cy="228295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1497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1F1931"/>
                </a:solidFill>
                <a:latin typeface="Arial"/>
              </a:rPr>
              <a:t>Концепция, сегменты и модель решения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32600" y="3810000"/>
            <a:ext cx="4813300" cy="228295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1497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1F1931"/>
                </a:solidFill>
                <a:latin typeface="Arial"/>
              </a:rPr>
              <a:t>Питч: «Акселератор.pdf», с. 2–4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8800" y="4419600"/>
            <a:ext cx="1600200" cy="233172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1536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1931"/>
                </a:solidFill>
                <a:latin typeface="Arial"/>
              </a:rPr>
              <a:t>4–6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25700" y="4419600"/>
            <a:ext cx="4216400" cy="228295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1497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1F1931"/>
                </a:solidFill>
                <a:latin typeface="Arial"/>
              </a:rPr>
              <a:t>Экран «живого демо» и стек MVP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32600" y="4419600"/>
            <a:ext cx="4813300" cy="228295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1497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1F1931"/>
                </a:solidFill>
                <a:latin typeface="Arial"/>
              </a:rPr>
              <a:t>Скриншот, с. 3; нужны протоколы метрик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8800" y="5016500"/>
            <a:ext cx="1600200" cy="233172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1536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F1931"/>
                </a:solidFill>
                <a:latin typeface="Arial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25700" y="5016500"/>
            <a:ext cx="4216400" cy="228295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1497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1F1931"/>
                </a:solidFill>
                <a:latin typeface="Arial"/>
              </a:rPr>
              <a:t>Пилот заявлен как план на 4–5-й месяц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32600" y="5016500"/>
            <a:ext cx="4813300" cy="228295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1497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1F1931"/>
                </a:solidFill>
                <a:latin typeface="Arial"/>
              </a:rPr>
              <a:t>Отчёт пилота пока не представлен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8800" y="5613400"/>
            <a:ext cx="1600200" cy="233172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1536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F1931"/>
                </a:solidFill>
                <a:latin typeface="Arial"/>
              </a:rPr>
              <a:t>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25700" y="5613400"/>
            <a:ext cx="4216400" cy="228295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1497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1F1931"/>
                </a:solidFill>
                <a:latin typeface="Arial"/>
              </a:rPr>
              <a:t>Коммерческое внедрение не заявлено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32600" y="5613400"/>
            <a:ext cx="4813300" cy="228295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1497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1F1931"/>
                </a:solidFill>
                <a:latin typeface="Arial"/>
              </a:rPr>
              <a:t>Акт приёмки не представлен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8800" y="6223000"/>
            <a:ext cx="1600200" cy="233172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1536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F1931"/>
                </a:solidFill>
                <a:latin typeface="Arial"/>
              </a:rPr>
              <a:t>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25700" y="6223000"/>
            <a:ext cx="4216400" cy="228295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1497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1F1931"/>
                </a:solidFill>
                <a:latin typeface="Arial"/>
              </a:rPr>
              <a:t>Продажи не заявлены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32600" y="6223000"/>
            <a:ext cx="4813300" cy="228295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1497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1F1931"/>
                </a:solidFill>
                <a:latin typeface="Arial"/>
              </a:rPr>
              <a:t>Договоры и отзывы не представлены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356100"/>
            <a:ext cx="11404600" cy="596900"/>
          </a:xfrm>
          <a:prstGeom prst="rect">
            <a:avLst/>
          </a:prstGeom>
          <a:noFill/>
          <a:ln w="20320">
            <a:solidFill>
              <a:srgbClr val="8423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7700" y="1892300"/>
            <a:ext cx="10820400" cy="346964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2432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F1931"/>
                </a:solidFill>
                <a:latin typeface="Arial"/>
              </a:rPr>
              <a:t>Данных «до / после» нет: фиксируем базу и план проверок.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7700" y="2374900"/>
            <a:ext cx="10642600" cy="249428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1664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7228A"/>
                </a:solidFill>
                <a:latin typeface="Arial"/>
              </a:rPr>
              <a:t>Плановая веха не является уже достигнутым результатом.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3100" y="3302000"/>
            <a:ext cx="4851400" cy="275437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1868"/>
              </a:lnSpc>
              <a:spcBef>
                <a:spcPts val="0"/>
              </a:spcBef>
              <a:spcAft>
                <a:spcPts val="0"/>
              </a:spcAft>
            </a:pPr>
            <a:r>
              <a:rPr sz="1460" b="1">
                <a:solidFill>
                  <a:srgbClr val="FFFFFF"/>
                </a:solidFill>
                <a:latin typeface="Arial"/>
              </a:rPr>
              <a:t>Подтверждено материалами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67400" y="3302000"/>
            <a:ext cx="4902200" cy="275437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1868"/>
              </a:lnSpc>
              <a:spcBef>
                <a:spcPts val="0"/>
              </a:spcBef>
              <a:spcAft>
                <a:spcPts val="0"/>
              </a:spcAft>
            </a:pPr>
            <a:r>
              <a:rPr sz="1460" b="1">
                <a:solidFill>
                  <a:srgbClr val="FFFFFF"/>
                </a:solidFill>
                <a:latin typeface="Arial"/>
              </a:rPr>
              <a:t>Целевой результат / план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" y="3784600"/>
            <a:ext cx="4876800" cy="246176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1638"/>
              </a:lnSpc>
              <a:spcBef>
                <a:spcPts val="0"/>
              </a:spcBef>
              <a:spcAft>
                <a:spcPts val="0"/>
              </a:spcAft>
            </a:pPr>
            <a:r>
              <a:rPr sz="1280" b="0">
                <a:solidFill>
                  <a:srgbClr val="1F1931"/>
                </a:solidFill>
                <a:latin typeface="Arial"/>
              </a:rPr>
              <a:t>MVP заявлен, демо показано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67400" y="3784600"/>
            <a:ext cx="4876800" cy="246176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1638"/>
              </a:lnSpc>
              <a:spcBef>
                <a:spcPts val="0"/>
              </a:spcBef>
              <a:spcAft>
                <a:spcPts val="0"/>
              </a:spcAft>
            </a:pPr>
            <a:r>
              <a:rPr sz="1280" b="0">
                <a:solidFill>
                  <a:srgbClr val="1F1931"/>
                </a:solidFill>
                <a:latin typeface="Arial"/>
              </a:rPr>
              <a:t>Протоколы тестов и метрики качества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3100" y="4406900"/>
            <a:ext cx="4876800" cy="246176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1638"/>
              </a:lnSpc>
              <a:spcBef>
                <a:spcPts val="0"/>
              </a:spcBef>
              <a:spcAft>
                <a:spcPts val="0"/>
              </a:spcAft>
            </a:pPr>
            <a:r>
              <a:rPr sz="1280" b="0">
                <a:solidFill>
                  <a:srgbClr val="1F1931"/>
                </a:solidFill>
                <a:latin typeface="Arial"/>
              </a:rPr>
              <a:t>Стек: Next.js, FastAPI, Docker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67400" y="4406900"/>
            <a:ext cx="4876800" cy="246176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1638"/>
              </a:lnSpc>
              <a:spcBef>
                <a:spcPts val="0"/>
              </a:spcBef>
              <a:spcAft>
                <a:spcPts val="0"/>
              </a:spcAft>
            </a:pPr>
            <a:r>
              <a:rPr sz="1280" b="0">
                <a:solidFill>
                  <a:srgbClr val="1F1931"/>
                </a:solidFill>
                <a:latin typeface="Arial"/>
              </a:rPr>
              <a:t>Стабильный контур для пилота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3100" y="5029200"/>
            <a:ext cx="4876800" cy="246176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1638"/>
              </a:lnSpc>
              <a:spcBef>
                <a:spcPts val="0"/>
              </a:spcBef>
              <a:spcAft>
                <a:spcPts val="0"/>
              </a:spcAft>
            </a:pPr>
            <a:r>
              <a:rPr sz="1280" b="0">
                <a:solidFill>
                  <a:srgbClr val="1F1931"/>
                </a:solidFill>
                <a:latin typeface="Arial"/>
              </a:rPr>
              <a:t>TechNet и EduNet — целевые сегменты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67400" y="5029200"/>
            <a:ext cx="4876800" cy="246176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1638"/>
              </a:lnSpc>
              <a:spcBef>
                <a:spcPts val="0"/>
              </a:spcBef>
              <a:spcAft>
                <a:spcPts val="0"/>
              </a:spcAft>
            </a:pPr>
            <a:r>
              <a:rPr sz="1280" b="0">
                <a:solidFill>
                  <a:srgbClr val="1F1931"/>
                </a:solidFill>
                <a:latin typeface="Arial"/>
              </a:rPr>
              <a:t>CustDev, проверка цены и спроса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3100" y="5651500"/>
            <a:ext cx="4876800" cy="246176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1638"/>
              </a:lnSpc>
              <a:spcBef>
                <a:spcPts val="0"/>
              </a:spcBef>
              <a:spcAft>
                <a:spcPts val="0"/>
              </a:spcAft>
            </a:pPr>
            <a:r>
              <a:rPr sz="1280" b="0">
                <a:solidFill>
                  <a:srgbClr val="1F1931"/>
                </a:solidFill>
                <a:latin typeface="Arial"/>
              </a:rPr>
              <a:t>Партнёры пока не подтверждены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67400" y="5651500"/>
            <a:ext cx="4876800" cy="246176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1638"/>
              </a:lnSpc>
              <a:spcBef>
                <a:spcPts val="0"/>
              </a:spcBef>
              <a:spcAft>
                <a:spcPts val="0"/>
              </a:spcAft>
            </a:pPr>
            <a:r>
              <a:rPr sz="1280" b="0">
                <a:solidFill>
                  <a:srgbClr val="1F1931"/>
                </a:solidFill>
                <a:latin typeface="Arial"/>
              </a:rPr>
              <a:t>Письма интереса и совместные пилоты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6540500"/>
            <a:ext cx="10756900" cy="142240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</a:pPr>
            <a:r>
              <a:rPr sz="819" b="0">
                <a:solidFill>
                  <a:srgbClr val="5A526C"/>
                </a:solidFill>
                <a:latin typeface="Arial"/>
              </a:rPr>
              <a:t>Основа: «Акселератор.pdf», с. 3–5; правая колонка — план, не отчёт о достижениях.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22300" y="1739900"/>
            <a:ext cx="7620000" cy="330708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2304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F1931"/>
                </a:solidFill>
                <a:latin typeface="Arial"/>
              </a:rPr>
              <a:t>Дорожная карта из исходного питча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09600" y="2298700"/>
            <a:ext cx="6794500" cy="1003300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 w="10160">
            <a:solidFill>
              <a:srgbClr val="D9C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62000" y="2451100"/>
            <a:ext cx="1409700" cy="698500"/>
          </a:xfrm>
          <a:prstGeom prst="roundRect">
            <a:avLst>
              <a:gd name="adj" fmla="val 11000"/>
            </a:avLst>
          </a:prstGeom>
          <a:solidFill>
            <a:srgbClr val="F3E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900" y="2654300"/>
            <a:ext cx="1244600" cy="273812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ctr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57228A"/>
                </a:solidFill>
                <a:latin typeface="Arial"/>
              </a:rPr>
              <a:t>1–2 мес.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4900" y="2425700"/>
            <a:ext cx="4737100" cy="288442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1971"/>
              </a:lnSpc>
              <a:spcBef>
                <a:spcPts val="0"/>
              </a:spcBef>
              <a:spcAft>
                <a:spcPts val="0"/>
              </a:spcAft>
            </a:pPr>
            <a:r>
              <a:rPr sz="1540" b="1">
                <a:solidFill>
                  <a:srgbClr val="1F1931"/>
                </a:solidFill>
                <a:latin typeface="Arial"/>
              </a:rPr>
              <a:t>Проектирование и разработка MVP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4900" y="2794000"/>
            <a:ext cx="4749800" cy="239674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240" b="0">
                <a:solidFill>
                  <a:srgbClr val="5A526C"/>
                </a:solidFill>
                <a:latin typeface="Arial"/>
              </a:rPr>
              <a:t>Загрузка кода и читаемый отчёт по замечаниям.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9600" y="3454400"/>
            <a:ext cx="6794500" cy="1003300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 w="10160">
            <a:solidFill>
              <a:srgbClr val="D9C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62000" y="3606800"/>
            <a:ext cx="1409700" cy="698500"/>
          </a:xfrm>
          <a:prstGeom prst="roundRect">
            <a:avLst>
              <a:gd name="adj" fmla="val 11000"/>
            </a:avLst>
          </a:prstGeom>
          <a:solidFill>
            <a:srgbClr val="F3E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900" y="3810000"/>
            <a:ext cx="1244600" cy="273812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ctr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57228A"/>
                </a:solidFill>
                <a:latin typeface="Arial"/>
              </a:rPr>
              <a:t>3-й мес.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4900" y="3581400"/>
            <a:ext cx="4737100" cy="288442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1971"/>
              </a:lnSpc>
              <a:spcBef>
                <a:spcPts val="0"/>
              </a:spcBef>
              <a:spcAft>
                <a:spcPts val="0"/>
              </a:spcAft>
            </a:pPr>
            <a:r>
              <a:rPr sz="1540" b="1">
                <a:solidFill>
                  <a:srgbClr val="1F1931"/>
                </a:solidFill>
                <a:latin typeface="Arial"/>
              </a:rPr>
              <a:t>Тестирование и валидация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4900" y="3949700"/>
            <a:ext cx="4749800" cy="239674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240" b="0">
                <a:solidFill>
                  <a:srgbClr val="5A526C"/>
                </a:solidFill>
                <a:latin typeface="Arial"/>
              </a:rPr>
              <a:t>Эталонные задачи, ложные срабатывания, UX.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600" y="4610100"/>
            <a:ext cx="6794500" cy="1003300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 w="10160">
            <a:solidFill>
              <a:srgbClr val="D9C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62000" y="4762500"/>
            <a:ext cx="1409700" cy="698500"/>
          </a:xfrm>
          <a:prstGeom prst="roundRect">
            <a:avLst>
              <a:gd name="adj" fmla="val 11000"/>
            </a:avLst>
          </a:prstGeom>
          <a:solidFill>
            <a:srgbClr val="F3E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900" y="4965700"/>
            <a:ext cx="1244600" cy="273812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ctr">
              <a:lnSpc>
                <a:spcPts val="1855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57228A"/>
                </a:solidFill>
                <a:latin typeface="Arial"/>
              </a:rPr>
              <a:t>4–5 мес.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4900" y="4737100"/>
            <a:ext cx="4737100" cy="288442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1971"/>
              </a:lnSpc>
              <a:spcBef>
                <a:spcPts val="0"/>
              </a:spcBef>
              <a:spcAft>
                <a:spcPts val="0"/>
              </a:spcAft>
            </a:pPr>
            <a:r>
              <a:rPr sz="1540" b="1">
                <a:solidFill>
                  <a:srgbClr val="1F1931"/>
                </a:solidFill>
                <a:latin typeface="Arial"/>
              </a:rPr>
              <a:t>Пилот и подготовка к B2B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4900" y="5105400"/>
            <a:ext cx="4749800" cy="239674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240" b="0">
                <a:solidFill>
                  <a:srgbClr val="5A526C"/>
                </a:solidFill>
                <a:latin typeface="Arial"/>
              </a:rPr>
              <a:t>Проверка сценария в ИТ-команде и на учебном потоке.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2300" y="5905500"/>
            <a:ext cx="7188200" cy="226669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1484"/>
              </a:lnSpc>
              <a:spcBef>
                <a:spcPts val="0"/>
              </a:spcBef>
              <a:spcAft>
                <a:spcPts val="0"/>
              </a:spcAft>
            </a:pPr>
            <a:r>
              <a:rPr sz="1160" b="0">
                <a:solidFill>
                  <a:srgbClr val="57228A"/>
                </a:solidFill>
                <a:latin typeface="Arial"/>
              </a:rPr>
              <a:t>Дополнительно: методика испытаний, права на ПО и экономика внедрения.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" y="6540500"/>
            <a:ext cx="10756900" cy="144780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840"/>
              </a:lnSpc>
              <a:spcBef>
                <a:spcPts val="0"/>
              </a:spcBef>
              <a:spcAft>
                <a:spcPts val="0"/>
              </a:spcAft>
            </a:pPr>
            <a:r>
              <a:rPr sz="840" b="0">
                <a:solidFill>
                  <a:srgbClr val="5A526C"/>
                </a:solidFill>
                <a:latin typeface="Arial"/>
              </a:rPr>
              <a:t>Сроки: «Акселератор.pdf», с. 5; дополнительные направления — предложение.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22300" y="1727200"/>
            <a:ext cx="8229600" cy="353466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2483"/>
              </a:lnSpc>
              <a:spcBef>
                <a:spcPts val="0"/>
              </a:spcBef>
              <a:spcAft>
                <a:spcPts val="0"/>
              </a:spcAft>
            </a:pPr>
            <a:r>
              <a:rPr sz="1939" b="1">
                <a:solidFill>
                  <a:srgbClr val="1F1931"/>
                </a:solidFill>
                <a:latin typeface="Arial"/>
              </a:rPr>
              <a:t>Нужен путь от демо к доказанному эффекту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2300" y="2362200"/>
            <a:ext cx="6985000" cy="990600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 w="9525">
            <a:solidFill>
              <a:srgbClr val="D9C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4700" y="2552700"/>
            <a:ext cx="50800" cy="609600"/>
          </a:xfrm>
          <a:prstGeom prst="rect">
            <a:avLst/>
          </a:prstGeom>
          <a:solidFill>
            <a:srgbClr val="8423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5200" y="2476500"/>
            <a:ext cx="6451600" cy="288442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1971"/>
              </a:lnSpc>
              <a:spcBef>
                <a:spcPts val="0"/>
              </a:spcBef>
              <a:spcAft>
                <a:spcPts val="0"/>
              </a:spcAft>
            </a:pPr>
            <a:r>
              <a:rPr sz="1540" b="1">
                <a:solidFill>
                  <a:srgbClr val="1F1931"/>
                </a:solidFill>
                <a:latin typeface="Arial"/>
              </a:rPr>
              <a:t>01 Пилотные площадки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5200" y="2844800"/>
            <a:ext cx="6426200" cy="242925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1612"/>
              </a:lnSpc>
              <a:spcBef>
                <a:spcPts val="0"/>
              </a:spcBef>
              <a:spcAft>
                <a:spcPts val="0"/>
              </a:spcAft>
            </a:pPr>
            <a:r>
              <a:rPr sz="1260" b="0">
                <a:solidFill>
                  <a:srgbClr val="5A526C"/>
                </a:solidFill>
                <a:latin typeface="Arial"/>
              </a:rPr>
              <a:t>ИТ-команда и учебный курс: измерить качество и время ревью.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300" y="3467100"/>
            <a:ext cx="6985000" cy="990600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 w="9525">
            <a:solidFill>
              <a:srgbClr val="D9C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4700" y="3657600"/>
            <a:ext cx="50800" cy="609600"/>
          </a:xfrm>
          <a:prstGeom prst="rect">
            <a:avLst/>
          </a:prstGeom>
          <a:solidFill>
            <a:srgbClr val="8423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5200" y="3581400"/>
            <a:ext cx="6451600" cy="288442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1971"/>
              </a:lnSpc>
              <a:spcBef>
                <a:spcPts val="0"/>
              </a:spcBef>
              <a:spcAft>
                <a:spcPts val="0"/>
              </a:spcAft>
            </a:pPr>
            <a:r>
              <a:rPr sz="1540" b="1">
                <a:solidFill>
                  <a:srgbClr val="1F1931"/>
                </a:solidFill>
                <a:latin typeface="Arial"/>
              </a:rPr>
              <a:t>02 Независимая экспертиза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5200" y="3949700"/>
            <a:ext cx="6426200" cy="242925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1612"/>
              </a:lnSpc>
              <a:spcBef>
                <a:spcPts val="0"/>
              </a:spcBef>
              <a:spcAft>
                <a:spcPts val="0"/>
              </a:spcAft>
            </a:pPr>
            <a:r>
              <a:rPr sz="1260" b="0">
                <a:solidFill>
                  <a:srgbClr val="5A526C"/>
                </a:solidFill>
                <a:latin typeface="Arial"/>
              </a:rPr>
              <a:t>Оценить ошибки, ложные срабатывания и безопасность метода.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2300" y="4572000"/>
            <a:ext cx="6985000" cy="990600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 w="9525">
            <a:solidFill>
              <a:srgbClr val="D9CD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4700" y="4762500"/>
            <a:ext cx="50800" cy="609600"/>
          </a:xfrm>
          <a:prstGeom prst="rect">
            <a:avLst/>
          </a:prstGeom>
          <a:solidFill>
            <a:srgbClr val="8423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5200" y="4686300"/>
            <a:ext cx="6451600" cy="288442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1971"/>
              </a:lnSpc>
              <a:spcBef>
                <a:spcPts val="0"/>
              </a:spcBef>
              <a:spcAft>
                <a:spcPts val="0"/>
              </a:spcAft>
            </a:pPr>
            <a:r>
              <a:rPr sz="1540" b="1">
                <a:solidFill>
                  <a:srgbClr val="1F1931"/>
                </a:solidFill>
                <a:latin typeface="Arial"/>
              </a:rPr>
              <a:t>03 Менторство и консультации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5200" y="5054600"/>
            <a:ext cx="6426200" cy="242925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1612"/>
              </a:lnSpc>
              <a:spcBef>
                <a:spcPts val="0"/>
              </a:spcBef>
              <a:spcAft>
                <a:spcPts val="0"/>
              </a:spcAft>
            </a:pPr>
            <a:r>
              <a:rPr sz="1260" b="0">
                <a:solidFill>
                  <a:srgbClr val="5A526C"/>
                </a:solidFill>
                <a:latin typeface="Arial"/>
              </a:rPr>
              <a:t>Проверить B2B/B2Edu-модель и подготовить коммерческий пилот.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2300" y="5803900"/>
            <a:ext cx="7467600" cy="221792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1446"/>
              </a:lnSpc>
              <a:spcBef>
                <a:spcPts val="0"/>
              </a:spcBef>
              <a:spcAft>
                <a:spcPts val="0"/>
              </a:spcAft>
            </a:pPr>
            <a:r>
              <a:rPr sz="1130" b="0">
                <a:solidFill>
                  <a:srgbClr val="57228A"/>
                </a:solidFill>
                <a:latin typeface="Arial"/>
              </a:rPr>
              <a:t>Программа ДГУ TechNet заявляет обучение, наставничество и консалтинг.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6553200"/>
            <a:ext cx="10756900" cy="149860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880" b="0">
                <a:solidFill>
                  <a:srgbClr val="5A526C"/>
                </a:solidFill>
                <a:latin typeface="Arial"/>
                <a:hlinkClick r:id="rId3"/>
              </a:rPr>
              <a:t>Описание программы ДГУ TechNet: pt.2035.university/accelerator/747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8500" y="1841500"/>
            <a:ext cx="10655300" cy="452628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3264"/>
              </a:lnSpc>
              <a:spcBef>
                <a:spcPts val="0"/>
              </a:spcBef>
              <a:spcAft>
                <a:spcPts val="0"/>
              </a:spcAft>
            </a:pPr>
            <a:r>
              <a:rPr sz="2550" b="1">
                <a:solidFill>
                  <a:srgbClr val="FFFFFF"/>
                </a:solidFill>
                <a:latin typeface="Arial"/>
              </a:rPr>
              <a:t>Экспертиза — следующий контрольный шаг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8500" y="2552700"/>
            <a:ext cx="10502900" cy="558292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2048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4E9FC"/>
                </a:solidFill>
                <a:latin typeface="Arial"/>
              </a:rPr>
              <a:t>В переданных материалах не приложены экспертные отзывы._x000B_Цитаты, ФИО и ссылки на профили здесь не подменяются вымыслом.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1200" y="3683000"/>
            <a:ext cx="3060700" cy="1155700"/>
          </a:xfrm>
          <a:prstGeom prst="roundRect">
            <a:avLst>
              <a:gd name="adj" fmla="val 11000"/>
            </a:avLst>
          </a:prstGeom>
          <a:solidFill>
            <a:srgbClr val="2A153B"/>
          </a:solidFill>
          <a:ln w="12700">
            <a:solidFill>
              <a:srgbClr val="B875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9000" y="3835400"/>
            <a:ext cx="368300" cy="233172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1536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38DEF"/>
                </a:solidFill>
                <a:latin typeface="Arial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0800" y="3810000"/>
            <a:ext cx="2298700" cy="314452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2176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Технология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0800" y="4152900"/>
            <a:ext cx="2298700" cy="428244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1536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1D3ED"/>
                </a:solidFill>
                <a:latin typeface="Arial"/>
              </a:rPr>
              <a:t>теоретическая_x000B_реализуемость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02100" y="3683000"/>
            <a:ext cx="3060700" cy="1155700"/>
          </a:xfrm>
          <a:prstGeom prst="roundRect">
            <a:avLst>
              <a:gd name="adj" fmla="val 11000"/>
            </a:avLst>
          </a:prstGeom>
          <a:solidFill>
            <a:srgbClr val="2A153B"/>
          </a:solidFill>
          <a:ln w="12700">
            <a:solidFill>
              <a:srgbClr val="B875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79900" y="3835400"/>
            <a:ext cx="368300" cy="233172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1536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38DEF"/>
                </a:solidFill>
                <a:latin typeface="Arial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11700" y="3810000"/>
            <a:ext cx="2298700" cy="314452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2176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Рынок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11700" y="4152900"/>
            <a:ext cx="2298700" cy="428244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1536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1D3ED"/>
                </a:solidFill>
                <a:latin typeface="Arial"/>
              </a:rPr>
              <a:t>коммерческий_x000B_потенциал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3000" y="3683000"/>
            <a:ext cx="3060700" cy="1155700"/>
          </a:xfrm>
          <a:prstGeom prst="roundRect">
            <a:avLst>
              <a:gd name="adj" fmla="val 11000"/>
            </a:avLst>
          </a:prstGeom>
          <a:solidFill>
            <a:srgbClr val="2A153B"/>
          </a:solidFill>
          <a:ln w="12700">
            <a:solidFill>
              <a:srgbClr val="B875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70800" y="3835400"/>
            <a:ext cx="368300" cy="233172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1536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38DEF"/>
                </a:solidFill>
                <a:latin typeface="Arial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02600" y="3810000"/>
            <a:ext cx="2298700" cy="314452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2176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Наука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02600" y="4152900"/>
            <a:ext cx="2298700" cy="428244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1536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1D3ED"/>
                </a:solidFill>
                <a:latin typeface="Arial"/>
              </a:rPr>
              <a:t>соответствие_x000B_принципам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3100" y="5092700"/>
            <a:ext cx="10871200" cy="609600"/>
          </a:xfrm>
          <a:prstGeom prst="roundRect">
            <a:avLst>
              <a:gd name="adj" fmla="val 11000"/>
            </a:avLst>
          </a:prstGeom>
          <a:solidFill>
            <a:srgbClr val="2A153B"/>
          </a:solidFill>
          <a:ln w="10160">
            <a:solidFill>
              <a:srgbClr val="9254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8200" y="5257800"/>
            <a:ext cx="10541000" cy="268935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1817"/>
              </a:lnSpc>
              <a:spcBef>
                <a:spcPts val="0"/>
              </a:spcBef>
              <a:spcAft>
                <a:spcPts val="0"/>
              </a:spcAft>
            </a:pPr>
            <a:r>
              <a:rPr sz="1420" b="1">
                <a:solidFill>
                  <a:srgbClr val="FFFFFF"/>
                </a:solidFill>
                <a:latin typeface="Arial"/>
              </a:rPr>
              <a:t>Для финальной подачи: 5 заключений с ФИО и ссылками на ИС «Эксперты НТИ».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8500" y="5905500"/>
            <a:ext cx="6159500" cy="246176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1638"/>
              </a:lnSpc>
              <a:spcBef>
                <a:spcPts val="0"/>
              </a:spcBef>
              <a:spcAft>
                <a:spcPts val="0"/>
              </a:spcAft>
            </a:pPr>
            <a:r>
              <a:rPr sz="1280" b="1">
                <a:solidFill>
                  <a:srgbClr val="F4E9FC"/>
                </a:solidFill>
                <a:latin typeface="Arial"/>
              </a:rPr>
              <a:t>Исмаилов Ислам Шафикович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8500" y="6197600"/>
            <a:ext cx="5969000" cy="225044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147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4E9FC"/>
                </a:solidFill>
                <a:latin typeface="Arial"/>
              </a:rPr>
              <a:t>StevenScreamches@ya.ru • +7 (928) 218-30-30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8500" y="6565900"/>
            <a:ext cx="10756900" cy="139700"/>
          </a:xfrm>
          <a:prstGeom prst="rect">
            <a:avLst/>
          </a:prstGeom>
          <a:noFill/>
        </p:spPr>
        <p:txBody>
          <a:bodyPr wrap="none" tIns="0" bIns="0" lIns="0" rIns="0" anchor="t">
            <a:noAutofit/>
          </a:bodyPr>
          <a:lstStyle/>
          <a:p>
            <a:pPr algn="l">
              <a:lnSpc>
                <a:spcPts val="8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D8C7E3"/>
                </a:solidFill>
                <a:latin typeface="Arial"/>
              </a:rPr>
              <a:t>Требования к экспертизе: «Шаблон презентации 2.0_2026.pdf», с. 13.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СинтексПруф — акселератор ДГУ / TechNet</dc:title>
  <dc:subject>Питч проекта в шаблоне акселератора ДГУ</dc:subject>
  <dc:creator>Проект СинтексПруф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