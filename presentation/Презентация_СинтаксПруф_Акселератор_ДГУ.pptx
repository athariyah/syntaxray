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419100"/>
            <a:ext cx="11747500" cy="876300"/>
          </a:xfrm>
          <a:prstGeom prst="rect">
            <a:avLst/>
          </a:prstGeom>
        </p:spPr>
      </p:pic>
      <p:pic>
        <p:nvPicPr>
          <p:cNvPr id="4" name="Picture 3" descr="gold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1429512"/>
            <a:ext cx="10304780" cy="5427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" y="2730500"/>
            <a:ext cx="88900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4800">
                <a:solidFill>
                  <a:srgbClr val="FFFFFF"/>
                </a:solidFill>
                <a:latin typeface="Trebuchet MS"/>
              </a:rPr>
              <a:t>СинтаксПруф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900" y="3657600"/>
            <a:ext cx="812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800">
                <a:solidFill>
                  <a:srgbClr val="FFFFFF"/>
                </a:solidFill>
                <a:latin typeface="Calibri"/>
              </a:rPr>
              <a:t>платформа автоматизированного статического анализа
и ИИ-ревью программного кода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900" y="4826000"/>
            <a:ext cx="9144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100">
                <a:solidFill>
                  <a:srgbClr val="C9C2D8"/>
                </a:solidFill>
                <a:latin typeface="Calibri"/>
              </a:rPr>
              <a:t>Акселерационная программа ДГУ по направлению TechNet · pt.2035.university/accelerator/747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900" y="5740400"/>
            <a:ext cx="8890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800">
                <a:solidFill>
                  <a:srgbClr val="FFFFFF"/>
                </a:solidFill>
                <a:latin typeface="Calibri"/>
              </a:rPr>
              <a:t>Исмаилов Ислам Шафикович</a:t>
            </a:r>
          </a:p>
          <a:p>
            <a:pPr algn="l"/>
            <a:r>
              <a:rPr b="0" sz="1400">
                <a:solidFill>
                  <a:srgbClr val="FFFFFF"/>
                </a:solidFill>
                <a:latin typeface="Calibri"/>
              </a:rPr>
              <a:t>StevenScreamches@ya.ru  ·  +7 (928) 218-30-30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qui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0"/>
            <a:ext cx="2882900" cy="1602740"/>
          </a:xfrm>
          <a:prstGeom prst="rect">
            <a:avLst/>
          </a:prstGeom>
        </p:spPr>
      </p:pic>
      <p:pic>
        <p:nvPicPr>
          <p:cNvPr id="4" name="Picture 3" descr="badge_tech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256" y="0"/>
            <a:ext cx="2887980" cy="505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150" y="800100"/>
            <a:ext cx="101600" cy="50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260" y="723900"/>
            <a:ext cx="10922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3200">
                <a:solidFill>
                  <a:srgbClr val="111111"/>
                </a:solidFill>
                <a:latin typeface="Trebuchet MS"/>
              </a:rPr>
              <a:t>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600">
                <a:solidFill>
                  <a:srgbClr val="A9A2B8"/>
                </a:solidFill>
                <a:latin typeface="Trebuchet M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230" y="1625600"/>
            <a:ext cx="11239500" cy="469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Calibri"/>
              </a:rPr>
              <a:t>Чья проблема: </a:t>
            </a:r>
            <a:r>
              <a:rPr b="0" sz="1200">
                <a:solidFill>
                  <a:srgbClr val="333333"/>
                </a:solidFill>
                <a:latin typeface="Calibri"/>
              </a:rPr>
              <a:t>команды разработки программного обеспечения — от BigTech до малого бизнеса, а также образовательные площадки TechNet/EduNet НТИ, которым необходим контроль происхождения и качества кода.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Calibri"/>
              </a:rPr>
              <a:t>Как проблема решается в настоящее время: </a:t>
            </a:r>
            <a:r>
              <a:rPr b="0" sz="1200">
                <a:solidFill>
                  <a:srgbClr val="333333"/>
                </a:solidFill>
                <a:latin typeface="Calibri"/>
              </a:rPr>
              <a:t>вручную — Code Review силами senior-инженеров; классическими утилитами статического анализа (SAST).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Calibri"/>
              </a:rPr>
              <a:t>Почему существующее решение хуже: </a:t>
            </a:r>
            <a:r>
              <a:rPr b="0" sz="1200">
                <a:solidFill>
                  <a:srgbClr val="333333"/>
                </a:solidFill>
                <a:latin typeface="Calibri"/>
              </a:rPr>
              <a:t>инженеры уровня Senior и Lead тратят до 20–30% рабочего времени на проверку кода младших специалистов; существующие инструменты не отличают код человека от фрагментов, сгенерированных LLM, и не проверяют семантическую безопасность AI-советов — растут риски нарушения авторских прав и снижения понимания архитектуры самими разработчиками.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Calibri"/>
              </a:rPr>
              <a:t>У каких потребителей проблема стоит наиболее остро: </a:t>
            </a:r>
            <a:r>
              <a:rPr b="0" sz="1200">
                <a:solidFill>
                  <a:srgbClr val="333333"/>
                </a:solidFill>
                <a:latin typeface="Calibri"/>
              </a:rPr>
              <a:t>руководство BigTech-компаний (стоимость senior-времени), HR-специалисты малого бизнеса (проверка кандидатов), компании и вузы, внедряющие ИИ-инструменты в процесс разработки.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Calibri"/>
              </a:rPr>
              <a:t>Сколько компаний сталкиваются с проблемой: </a:t>
            </a:r>
            <a:r>
              <a:rPr b="0" sz="1200">
                <a:solidFill>
                  <a:srgbClr val="333333"/>
                </a:solidFill>
                <a:latin typeface="Calibri"/>
              </a:rPr>
              <a:t>все dev-команды, использующие генеративный ИИ при написании кода (сегмент быстро растёт); на EduNet — площадки, проверяющие авторство работ (2i school (Сбер), VK education, Avito Start).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Calibri"/>
              </a:rPr>
              <a:t>Количественные оценки проблемы: </a:t>
            </a:r>
            <a:r>
              <a:rPr b="0" sz="1200">
                <a:solidFill>
                  <a:srgbClr val="333333"/>
                </a:solidFill>
                <a:latin typeface="Calibri"/>
              </a:rPr>
              <a:t>потери до 20–30% рабочего времени senior-инженеров на Code Review; риск проникновения уязвимостей из LLM-советов (переполнение буфера, небезопасные API и др.) в продакшн-продукт.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b="1" sz="1200">
                <a:solidFill>
                  <a:srgbClr val="111111"/>
                </a:solidFill>
                <a:latin typeface="Calibri"/>
              </a:rPr>
              <a:t>Подтверждение актуальности: </a:t>
            </a:r>
            <a:r>
              <a:rPr b="0" sz="1200">
                <a:solidFill>
                  <a:srgbClr val="333333"/>
                </a:solidFill>
                <a:latin typeface="Calibri"/>
              </a:rPr>
              <a:t>[CustDev: опросы dev-команд и HR-специалистов, письма заинтересованности — приложить].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qui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0"/>
            <a:ext cx="2882900" cy="1602740"/>
          </a:xfrm>
          <a:prstGeom prst="rect">
            <a:avLst/>
          </a:prstGeom>
        </p:spPr>
      </p:pic>
      <p:pic>
        <p:nvPicPr>
          <p:cNvPr id="4" name="Picture 3" descr="badge_tech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256" y="0"/>
            <a:ext cx="2887980" cy="505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150" y="800100"/>
            <a:ext cx="101600" cy="50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260" y="723900"/>
            <a:ext cx="10922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3200">
                <a:solidFill>
                  <a:srgbClr val="111111"/>
                </a:solidFill>
                <a:latin typeface="Trebuchet MS"/>
              </a:rPr>
              <a:t>РЕШЕНИЕ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600">
                <a:solidFill>
                  <a:srgbClr val="A9A2B8"/>
                </a:solidFill>
                <a:latin typeface="Trebuchet M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230" y="1625600"/>
            <a:ext cx="5969000" cy="469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b="1" sz="1250">
                <a:solidFill>
                  <a:srgbClr val="111111"/>
                </a:solidFill>
                <a:latin typeface="Calibri"/>
              </a:rPr>
              <a:t>Суть решения: </a:t>
            </a:r>
            <a:r>
              <a:rPr b="0" sz="1250">
                <a:solidFill>
                  <a:srgbClr val="333333"/>
                </a:solidFill>
                <a:latin typeface="Calibri"/>
              </a:rPr>
              <a:t>«СинтаксПруф» — автоматизированная среда верификации исходного кода: достоверная дифференциация алгоритмов, написанных разработчиком-человеком, и фрагментов, сгенерированных большими языковыми моделями (LLM), плюс семантический контроль качества внедряемых решений.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b="1" sz="1250">
                <a:solidFill>
                  <a:srgbClr val="111111"/>
                </a:solidFill>
                <a:latin typeface="Calibri"/>
              </a:rPr>
              <a:t>Как продукт решает проблему: </a:t>
            </a:r>
            <a:r>
              <a:rPr b="0" sz="1250">
                <a:solidFill>
                  <a:srgbClr val="333333"/>
                </a:solidFill>
                <a:latin typeface="Calibri"/>
              </a:rPr>
              <a:t>интеллектуальный пре-фильтр для Code Review снимает с senior-инженеров до 20–30% трудозатрат; контроль происхождения кода снижает риски нарушения авторских прав; семантический контроль безопасности (AI DevSecOps) выявляет находки CRITICAL / MAJOR / INFO с объяснениями (переполнение буфера через gets(), магические константы, избыточная сложность O(N²)) и оценивает качество кода по 100-балльной шкале.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b="1" sz="1250">
                <a:solidFill>
                  <a:srgbClr val="111111"/>
                </a:solidFill>
                <a:latin typeface="Calibri"/>
              </a:rPr>
              <a:t>Текущие → целевые параметры: </a:t>
            </a:r>
            <a:r>
              <a:rPr b="0" sz="1250">
                <a:solidFill>
                  <a:srgbClr val="333333"/>
                </a:solidFill>
                <a:latin typeface="Calibri"/>
              </a:rPr>
              <a:t>сейчас — работающее веб-демо (движок статического анализа в браузере, полное ИИ-ревью по запросу); цель — промышленная точность, интеграция в CI/CD, поддержка B2B-процессов.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b="1" sz="1250">
                <a:solidFill>
                  <a:srgbClr val="111111"/>
                </a:solidFill>
                <a:latin typeface="Calibri"/>
              </a:rPr>
              <a:t>Экономическая эффективность: </a:t>
            </a:r>
            <a:r>
              <a:rPr b="0" sz="1250">
                <a:solidFill>
                  <a:srgbClr val="333333"/>
                </a:solidFill>
                <a:latin typeface="Calibri"/>
              </a:rPr>
              <a:t>высвобождение 20–30% времени code review, сокращение выпуска уязвимого AI-кода, ускорение проверки кандидатов.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250">
                <a:solidFill>
                  <a:srgbClr val="111111"/>
                </a:solidFill>
                <a:latin typeface="Calibri"/>
              </a:rPr>
              <a:t>Сценарии применения: </a:t>
            </a:r>
            <a:r>
              <a:rPr b="0" sz="1250">
                <a:solidFill>
                  <a:srgbClr val="333333"/>
                </a:solidFill>
                <a:latin typeface="Calibri"/>
              </a:rPr>
              <a:t>dev-команды BigTech и малого бизнеса; HR-проверка кода кандидатов; образовательные площадки EduNet.</a:t>
            </a:r>
          </a:p>
        </p:txBody>
      </p:sp>
      <p:pic>
        <p:nvPicPr>
          <p:cNvPr id="9" name="Picture 8" descr="demo_screensh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9100" y="2095500"/>
            <a:ext cx="5041900" cy="248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9100" y="4673600"/>
            <a:ext cx="5041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b="0" sz="1050">
                <a:solidFill>
                  <a:srgbClr val="666077"/>
                </a:solidFill>
                <a:latin typeface="Calibri"/>
              </a:rPr>
              <a:t>Живое демо: статический анализ и ИИ-ревью прямо в браузере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qui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0"/>
            <a:ext cx="2882900" cy="1602740"/>
          </a:xfrm>
          <a:prstGeom prst="rect">
            <a:avLst/>
          </a:prstGeom>
        </p:spPr>
      </p:pic>
      <p:pic>
        <p:nvPicPr>
          <p:cNvPr id="4" name="Picture 3" descr="badge_tech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256" y="0"/>
            <a:ext cx="2887980" cy="505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150" y="800100"/>
            <a:ext cx="101600" cy="50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260" y="723900"/>
            <a:ext cx="10922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3000">
                <a:solidFill>
                  <a:srgbClr val="111111"/>
                </a:solidFill>
                <a:latin typeface="Trebuchet MS"/>
              </a:rPr>
              <a:t>ТЕХНОЛОГИЧЕСКОЕ ЯДРО ПРОЕКТА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600">
                <a:solidFill>
                  <a:srgbClr val="A9A2B8"/>
                </a:solidFill>
                <a:latin typeface="Trebuchet M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230" y="1625600"/>
            <a:ext cx="6921500" cy="419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Технологическое ядро: </a:t>
            </a:r>
            <a:r>
              <a:rPr b="0" sz="1300">
                <a:solidFill>
                  <a:srgbClr val="333333"/>
                </a:solidFill>
                <a:latin typeface="Calibri"/>
              </a:rPr>
              <a:t>движок автоматизированного статического анализа + методы машинного обучения для достоверной дифференциации «код человека / LLM-генерация» + семантический контроль безопасности на базе ИИ-ревью (LLM).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К какой критической технологии относится: </a:t>
            </a:r>
            <a:r>
              <a:rPr b="0" sz="1300">
                <a:solidFill>
                  <a:srgbClr val="333333"/>
                </a:solidFill>
                <a:latin typeface="Calibri"/>
              </a:rPr>
              <a:t>технологии машинного обучения и искусственного интеллекта (критическая технология НТИ, направление TechNet); элементы «Кибербезопасности» — AI DevSecOps.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За счёт чего улучшается продукт: </a:t>
            </a:r>
            <a:r>
              <a:rPr b="0" sz="1300">
                <a:solidFill>
                  <a:srgbClr val="333333"/>
                </a:solidFill>
                <a:latin typeface="Calibri"/>
              </a:rPr>
              <a:t>ручная проверка заменяется автоматической верификацией с объяснимыми находками (CRITICAL / MAJOR / INFO) и количественной оценкой качества кода (0–100).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37500" y="1778000"/>
            <a:ext cx="3873500" cy="939800"/>
          </a:xfrm>
          <a:prstGeom prst="roundRect">
            <a:avLst/>
          </a:prstGeom>
          <a:solidFill>
            <a:srgbClr val="F4F1F9"/>
          </a:solidFill>
          <a:ln w="12700">
            <a:solidFill>
              <a:srgbClr val="C5B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b="1" sz="1500">
                <a:solidFill>
                  <a:srgbClr val="6A2FB5"/>
                </a:solidFill>
                <a:latin typeface="Trebuchet MS"/>
              </a:rPr>
              <a:t>Frontend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333333"/>
                </a:solidFill>
                <a:latin typeface="Calibri"/>
              </a:rPr>
              <a:t>React.js / Next.js, развёрнут на платформе Vercel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37500" y="2921000"/>
            <a:ext cx="3873500" cy="939800"/>
          </a:xfrm>
          <a:prstGeom prst="roundRect">
            <a:avLst/>
          </a:prstGeom>
          <a:solidFill>
            <a:srgbClr val="F4F1F9"/>
          </a:solidFill>
          <a:ln w="12700">
            <a:solidFill>
              <a:srgbClr val="C5B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b="1" sz="1500">
                <a:solidFill>
                  <a:srgbClr val="6A2FB5"/>
                </a:solidFill>
                <a:latin typeface="Trebuchet MS"/>
              </a:rPr>
              <a:t>Backend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333333"/>
                </a:solidFill>
                <a:latin typeface="Calibri"/>
              </a:rPr>
              <a:t>Python (FastAPI) с контейнеризацией Docker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7500" y="4064000"/>
            <a:ext cx="3873500" cy="939800"/>
          </a:xfrm>
          <a:prstGeom prst="roundRect">
            <a:avLst/>
          </a:prstGeom>
          <a:solidFill>
            <a:srgbClr val="F4F1F9"/>
          </a:solidFill>
          <a:ln w="12700">
            <a:solidFill>
              <a:srgbClr val="C5B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b="1" sz="1500">
                <a:solidFill>
                  <a:srgbClr val="6A2FB5"/>
                </a:solidFill>
                <a:latin typeface="Trebuchet MS"/>
              </a:rPr>
              <a:t>ИИ-ревью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333333"/>
                </a:solidFill>
                <a:latin typeface="Calibri"/>
              </a:rPr>
              <a:t>LLM: полное ревью и семантический контроль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qui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0"/>
            <a:ext cx="2882900" cy="1602740"/>
          </a:xfrm>
          <a:prstGeom prst="rect">
            <a:avLst/>
          </a:prstGeom>
        </p:spPr>
      </p:pic>
      <p:pic>
        <p:nvPicPr>
          <p:cNvPr id="4" name="Picture 3" descr="badge_tech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256" y="0"/>
            <a:ext cx="2887980" cy="505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150" y="800100"/>
            <a:ext cx="101600" cy="50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260" y="723900"/>
            <a:ext cx="10922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3200">
                <a:solidFill>
                  <a:srgbClr val="111111"/>
                </a:solidFill>
                <a:latin typeface="Trebuchet MS"/>
              </a:rPr>
              <a:t>КОНКУРЕНТЫ И АНАЛОГИ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600">
                <a:solidFill>
                  <a:srgbClr val="A9A2B8"/>
                </a:solidFill>
                <a:latin typeface="Trebuchet M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230" y="1549400"/>
            <a:ext cx="1123950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250">
                <a:solidFill>
                  <a:srgbClr val="333333"/>
                </a:solidFill>
                <a:latin typeface="Calibri"/>
              </a:rPr>
              <a:t>Сравнение ключевых функциональных характеристик продукта (по открытым данным вендоров). Прямых локальных решений с дифференциацией «человек / LLM» на рынке нет — это ключевое отличие «СинтаксПруф».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0230" y="2476500"/>
          <a:ext cx="11239500" cy="2971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1841500"/>
                <a:gridCol w="2413000"/>
                <a:gridCol w="1841500"/>
                <a:gridCol w="19431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Характеристики продукта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«СинтаксПруф»
(Россия)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SonarQube
(SonarSource, Франция/США)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CodeRabbit
(США)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Qodo
(Израиль/США)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Статический анализ качества и безопасности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ИИ-ревью кода (LLM)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да, полное ревью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Определение происхождения кода (человек / LLM)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Семантический контроль безопасности (AI DevSecOps)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по правилам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Пре-фильтр для Code Review (разгрузка senior-инженеров)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Уровень локализации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100% РФ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импорт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импорт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импорт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qui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0"/>
            <a:ext cx="2882900" cy="1602740"/>
          </a:xfrm>
          <a:prstGeom prst="rect">
            <a:avLst/>
          </a:prstGeom>
        </p:spPr>
      </p:pic>
      <p:pic>
        <p:nvPicPr>
          <p:cNvPr id="4" name="Picture 3" descr="badge_tech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256" y="0"/>
            <a:ext cx="2887980" cy="505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150" y="800100"/>
            <a:ext cx="101600" cy="50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260" y="723900"/>
            <a:ext cx="10922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2700">
                <a:solidFill>
                  <a:srgbClr val="111111"/>
                </a:solidFill>
                <a:latin typeface="Trebuchet MS"/>
              </a:rPr>
              <a:t>МОДЕЛЬ МОНЕТИЗАЦИИ, РЫНОК И ПОТРЕБИТЕЛИ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600">
                <a:solidFill>
                  <a:srgbClr val="A9A2B8"/>
                </a:solidFill>
                <a:latin typeface="Trebuchet M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230" y="1676400"/>
            <a:ext cx="112395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Потребители, готовые платить: </a:t>
            </a:r>
            <a:r>
              <a:rPr b="0" sz="1300">
                <a:solidFill>
                  <a:srgbClr val="333333"/>
                </a:solidFill>
                <a:latin typeface="Calibri"/>
              </a:rPr>
              <a:t>BigTech-компании и dev-команды (руководители инженерных групп — экономия senior-времени на Code Review); HR-специалисты малого бизнеса (проверка кода кандидатов); образовательные площадки EduNet (2i school (Сбер), VK education, Avito Start — контроль авторства и качества кода).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Модель монетизации: </a:t>
            </a:r>
            <a:r>
              <a:rPr b="0" sz="1300">
                <a:solidFill>
                  <a:srgbClr val="333333"/>
                </a:solidFill>
                <a:latin typeface="Calibri"/>
              </a:rPr>
              <a:t>SaaS-подписка для B2B-команд (тарифы per-seat / enterprise), лицензии для образовательных площадок; бесплатное живое демо — точка входа в продукт.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Путь коммерциализации: </a:t>
            </a:r>
            <a:r>
              <a:rPr b="0" sz="1300">
                <a:solidFill>
                  <a:srgbClr val="333333"/>
                </a:solidFill>
                <a:latin typeface="Calibri"/>
              </a:rPr>
              <a:t>1–2 месяц — проектирование и разработка MVP; 3 месяц — тестирование и валидация MVP; 4–5 месяцы — пилотирование и подготовка к B2B-сегменту → платные пилоты и командные подписки.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Размер целевого рынка: </a:t>
            </a:r>
            <a:r>
              <a:rPr b="0" sz="1300">
                <a:solidFill>
                  <a:srgbClr val="333333"/>
                </a:solidFill>
                <a:latin typeface="Calibri"/>
              </a:rPr>
              <a:t>российский рынок инструментов разработки и AI DevSecOps; ниша верификации происхождения кода (человек / LLM) локальными решениями не закрыта, спрос определяется массовым внедрением ИИ-ассистентов в разработку.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Объём продаж (прогноз): </a:t>
            </a:r>
            <a:r>
              <a:rPr b="0" sz="1300">
                <a:solidFill>
                  <a:srgbClr val="333333"/>
                </a:solidFill>
                <a:latin typeface="Calibri"/>
              </a:rPr>
              <a:t>[заполнить по итогам пилотов: N команд × M тыс. ₽/мес].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qui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0"/>
            <a:ext cx="2882900" cy="1602740"/>
          </a:xfrm>
          <a:prstGeom prst="rect">
            <a:avLst/>
          </a:prstGeom>
        </p:spPr>
      </p:pic>
      <p:pic>
        <p:nvPicPr>
          <p:cNvPr id="4" name="Picture 3" descr="badge_tech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256" y="0"/>
            <a:ext cx="2887980" cy="505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150" y="800100"/>
            <a:ext cx="101600" cy="50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260" y="723900"/>
            <a:ext cx="10922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3200">
                <a:solidFill>
                  <a:srgbClr val="111111"/>
                </a:solidFill>
                <a:latin typeface="Trebuchet MS"/>
              </a:rPr>
              <a:t>КОМАНДА И ПРОГРЕСС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600">
                <a:solidFill>
                  <a:srgbClr val="A9A2B8"/>
                </a:solidFill>
                <a:latin typeface="Trebuchet MS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0230" y="1625600"/>
          <a:ext cx="11239500" cy="210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0"/>
                <a:gridCol w="2476500"/>
                <a:gridCol w="5715000"/>
              </a:tblGrid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Участник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Роль в проекте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Функционал и компетенции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Исмаилов Ислам Шафикович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Руководитель проекта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Концепция и развитие продукта, управление проектом. StevenScreamches@ya.ru, +7 (928) 218-30-30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Команда разработки [ФИО]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Frontend / Backend-разработка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React.js / Next.js (Vercel), Python (FastAPI), Docker — в компетенциях на «входе» в программу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Наставники акселератора ДГУ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Экспертное сопровождение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Ускоренное обучение, экспертное наставничество, консалтинговое сопровождение (TechNet)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0230" y="4000500"/>
            <a:ext cx="112395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b="1" sz="1250">
                <a:solidFill>
                  <a:srgbClr val="111111"/>
                </a:solidFill>
                <a:latin typeface="Calibri"/>
              </a:rPr>
              <a:t>Состав на «входе»: </a:t>
            </a:r>
            <a:r>
              <a:rPr b="0" sz="1250">
                <a:solidFill>
                  <a:srgbClr val="333333"/>
                </a:solidFill>
                <a:latin typeface="Calibri"/>
              </a:rPr>
              <a:t>инициатор проекта и команда разработки с компетенциями fullstack (React/Next.js, Python/FastAPI, Docker) и статического анализа кода.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b="1" sz="1250">
                <a:solidFill>
                  <a:srgbClr val="111111"/>
                </a:solidFill>
                <a:latin typeface="Calibri"/>
              </a:rPr>
              <a:t>Состав на «выходе»: </a:t>
            </a:r>
            <a:r>
              <a:rPr b="0" sz="1250">
                <a:solidFill>
                  <a:srgbClr val="333333"/>
                </a:solidFill>
                <a:latin typeface="Calibri"/>
              </a:rPr>
              <a:t>команда разработки + наставники акселератора, проработанная бизнес-составляющая (модель монетизации, путь коммерциализации) и подготовленный B2B-процесс пилотирования.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250">
                <a:solidFill>
                  <a:srgbClr val="111111"/>
                </a:solidFill>
                <a:latin typeface="Calibri"/>
              </a:rPr>
              <a:t>Прогресс: </a:t>
            </a:r>
            <a:r>
              <a:rPr b="0" sz="1250">
                <a:solidFill>
                  <a:srgbClr val="333333"/>
                </a:solidFill>
                <a:latin typeface="Calibri"/>
              </a:rPr>
              <a:t>определено технологическое ядро, развёрнуто живое демо (оценка качества кода, находки CRITICAL / MAJOR / INFO), подготовлен план MVP → валидация → пилот.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qui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0"/>
            <a:ext cx="2882900" cy="1602740"/>
          </a:xfrm>
          <a:prstGeom prst="rect">
            <a:avLst/>
          </a:prstGeom>
        </p:spPr>
      </p:pic>
      <p:pic>
        <p:nvPicPr>
          <p:cNvPr id="4" name="Picture 3" descr="badge_tech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256" y="0"/>
            <a:ext cx="2887980" cy="505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150" y="800100"/>
            <a:ext cx="101600" cy="50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260" y="723900"/>
            <a:ext cx="10922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3200">
                <a:solidFill>
                  <a:srgbClr val="111111"/>
                </a:solidFill>
                <a:latin typeface="Trebuchet MS"/>
              </a:rPr>
              <a:t>ПАРТНЕРЫ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600">
                <a:solidFill>
                  <a:srgbClr val="A9A2B8"/>
                </a:solidFill>
                <a:latin typeface="Trebuchet M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230" y="1676400"/>
            <a:ext cx="11239500" cy="419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Партнёр проекта: </a:t>
            </a:r>
            <a:r>
              <a:rPr b="0" sz="1300">
                <a:solidFill>
                  <a:srgbClr val="333333"/>
                </a:solidFill>
                <a:latin typeface="Calibri"/>
              </a:rPr>
              <a:t>Акселерационная программа ДГУ по направлению TechNet (pt.2035.university/accelerator/747) — интенсивное развитие стартап-проектов посредством ускоренного обучения, экспертного наставничества и консалтингового сопровождения обучающихся в целях формирования высокотехнологичных инновационных продуктов.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Задача партнёра, легшая в основу проекта: </a:t>
            </a:r>
            <a:r>
              <a:rPr b="0" sz="1300">
                <a:solidFill>
                  <a:srgbClr val="333333"/>
                </a:solidFill>
                <a:latin typeface="Calibri"/>
              </a:rPr>
              <a:t>разработка инструментов контроля происхождения и качества программного кода для задач направления TechNet [уточнить формулировку по материалам программы].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Заинтересованные стороны и их роль: </a:t>
            </a:r>
            <a:r>
              <a:rPr b="0" sz="1300">
                <a:solidFill>
                  <a:srgbClr val="333333"/>
                </a:solidFill>
                <a:latin typeface="Calibri"/>
              </a:rPr>
              <a:t>BigTech-компании и dev-команды — площадки для пилотирования и обратная связь; образовательные площадки EduNet (2i school (Сбер), VK education, Avito Start) — сценарии применения в обучении и экспертиза.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Совместные ближайшие шаги: </a:t>
            </a:r>
            <a:r>
              <a:rPr b="0" sz="1300">
                <a:solidFill>
                  <a:srgbClr val="333333"/>
                </a:solidFill>
                <a:latin typeface="Calibri"/>
              </a:rPr>
              <a:t>организация пилотных внедрений, сбор обратной связи и подтверждение характеристик продукта, получение писем заинтересованности — приложить.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qui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0"/>
            <a:ext cx="2882900" cy="1602740"/>
          </a:xfrm>
          <a:prstGeom prst="rect">
            <a:avLst/>
          </a:prstGeom>
        </p:spPr>
      </p:pic>
      <p:pic>
        <p:nvPicPr>
          <p:cNvPr id="4" name="Picture 3" descr="badge_tech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256" y="0"/>
            <a:ext cx="2887980" cy="505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150" y="800100"/>
            <a:ext cx="101600" cy="50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260" y="723900"/>
            <a:ext cx="10922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3200">
                <a:solidFill>
                  <a:srgbClr val="111111"/>
                </a:solidFill>
                <a:latin typeface="Trebuchet MS"/>
              </a:rPr>
              <a:t>УРОВЕНЬ ГОТОВНОСТИ ТЕХНОЛОГИИ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600">
                <a:solidFill>
                  <a:srgbClr val="A9A2B8"/>
                </a:solidFill>
                <a:latin typeface="Trebuchet M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230" y="1549400"/>
            <a:ext cx="11239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250">
                <a:solidFill>
                  <a:srgbClr val="111111"/>
                </a:solidFill>
                <a:latin typeface="Calibri"/>
              </a:rPr>
              <a:t>Текущий уровень готовности технологии — TRL 4–6: </a:t>
            </a:r>
            <a:r>
              <a:rPr b="0" sz="1250">
                <a:solidFill>
                  <a:srgbClr val="333333"/>
                </a:solidFill>
                <a:latin typeface="Calibri"/>
              </a:rPr>
              <a:t>создание прототипа, подтверждение характеристик в лабораторных условиях. Артефакты: работающее живое демо статического анализа в браузере (скриншоты), результаты анализа тестового кода (CRITICAL: переполнение буфера gets(); MAJOR: избыточная сложность O(N²); INFO: магические константы). Целевой уровень после пилотирования — TRL 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230" y="2768600"/>
            <a:ext cx="11239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100">
                <a:solidFill>
                  <a:srgbClr val="555062"/>
                </a:solidFill>
                <a:latin typeface="Calibri"/>
              </a:rPr>
              <a:t>ОПИСАНИЕ УРОВНЕЙ ГОТОВНОСТИ И СООТВЕТСТВУЮЩИХ ИМ АРТЕФАКТОВ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0230" y="3073400"/>
          <a:ext cx="112395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3500"/>
                <a:gridCol w="3810000"/>
                <a:gridCol w="4064000"/>
                <a:gridCol w="2032000"/>
              </a:tblGrid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Уровень готовности</a:t>
                      </a:r>
                    </a:p>
                  </a:txBody>
                  <a:tcPr anchor="ctr" marL="76200" marR="63500" marT="25400" marB="25400">
                    <a:solidFill>
                      <a:srgbClr val="F79C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Краткое описание</a:t>
                      </a:r>
                    </a:p>
                  </a:txBody>
                  <a:tcPr anchor="ctr" marL="76200" marR="63500" marT="25400" marB="25400">
                    <a:solidFill>
                      <a:srgbClr val="F79C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Артефакт</a:t>
                      </a:r>
                    </a:p>
                  </a:txBody>
                  <a:tcPr anchor="ctr" marL="76200" marR="63500" marT="25400" marB="25400">
                    <a:solidFill>
                      <a:srgbClr val="F79C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Статус проекта</a:t>
                      </a:r>
                    </a:p>
                  </a:txBody>
                  <a:tcPr anchor="ctr" marL="76200" marR="63500" marT="25400" marB="25400">
                    <a:solidFill>
                      <a:srgbClr val="F79C3D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1–3</a:t>
                      </a:r>
                    </a:p>
                  </a:txBody>
                  <a:tcPr anchor="ctr" marL="76200" marR="63500" marT="25400" marB="25400">
                    <a:solidFill>
                      <a:srgbClr val="FDF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Формирование концепции, лабораторные исследования, создание макета</a:t>
                      </a:r>
                    </a:p>
                  </a:txBody>
                  <a:tcPr anchor="ctr" marL="76200" marR="63500" marT="25400" marB="25400">
                    <a:solidFill>
                      <a:srgbClr val="FDF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Научные статьи, отчёты о моделировании, письма заинтересованности</a:t>
                      </a:r>
                    </a:p>
                  </a:txBody>
                  <a:tcPr anchor="ctr" marL="76200" marR="63500" marT="25400" marB="25400">
                    <a:solidFill>
                      <a:srgbClr val="FDF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пройден</a:t>
                      </a:r>
                    </a:p>
                  </a:txBody>
                  <a:tcPr anchor="ctr" marL="76200" marR="63500" marT="25400" marB="25400">
                    <a:solidFill>
                      <a:srgbClr val="FDF2E2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4–6</a:t>
                      </a:r>
                    </a:p>
                  </a:txBody>
                  <a:tcPr anchor="ctr" marL="76200" marR="63500" marT="25400" marB="25400">
                    <a:solidFill>
                      <a:srgbClr val="FEF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Создание прототипа, подтверждение характеристик в лабораторных условиях</a:t>
                      </a:r>
                    </a:p>
                  </a:txBody>
                  <a:tcPr anchor="ctr" marL="76200" marR="63500" marT="25400" marB="25400">
                    <a:solidFill>
                      <a:srgbClr val="FEF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Фото/видео работающего макета, протоколы успешных экспериментов</a:t>
                      </a:r>
                    </a:p>
                  </a:txBody>
                  <a:tcPr anchor="ctr" marL="76200" marR="63500" marT="25400" marB="25400">
                    <a:solidFill>
                      <a:srgbClr val="FEF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текущий — живое демо</a:t>
                      </a:r>
                    </a:p>
                  </a:txBody>
                  <a:tcPr anchor="ctr" marL="76200" marR="63500" marT="25400" marB="25400">
                    <a:solidFill>
                      <a:srgbClr val="FEF8E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6200" marR="63500" marT="25400" marB="25400">
                    <a:solidFill>
                      <a:srgbClr val="FDF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Пилотирование проекта (опытные испытания)</a:t>
                      </a:r>
                    </a:p>
                  </a:txBody>
                  <a:tcPr anchor="ctr" marL="76200" marR="63500" marT="25400" marB="25400">
                    <a:solidFill>
                      <a:srgbClr val="FDF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Видеодемонстрация в промышленных условиях, отчёт независимого тестирования</a:t>
                      </a:r>
                    </a:p>
                  </a:txBody>
                  <a:tcPr anchor="ctr" marL="76200" marR="63500" marT="25400" marB="25400">
                    <a:solidFill>
                      <a:srgbClr val="FDF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цель — пилот с B2B</a:t>
                      </a:r>
                    </a:p>
                  </a:txBody>
                  <a:tcPr anchor="ctr" marL="76200" marR="63500" marT="25400" marB="25400">
                    <a:solidFill>
                      <a:srgbClr val="FDF2E2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8–9</a:t>
                      </a:r>
                    </a:p>
                  </a:txBody>
                  <a:tcPr anchor="ctr" marL="76200" marR="63500" marT="25400" marB="25400">
                    <a:solidFill>
                      <a:srgbClr val="FEF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Предсерийное и серийное производство, коммерческое использование</a:t>
                      </a:r>
                    </a:p>
                  </a:txBody>
                  <a:tcPr anchor="ctr" marL="76200" marR="63500" marT="25400" marB="25400">
                    <a:solidFill>
                      <a:srgbClr val="FEF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Акт пилотного проекта, контракты на продажу, отзывы клиентов</a:t>
                      </a:r>
                    </a:p>
                  </a:txBody>
                  <a:tcPr anchor="ctr" marL="76200" marR="63500" marT="25400" marB="25400">
                    <a:solidFill>
                      <a:srgbClr val="FEF8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111111"/>
                          </a:solidFill>
                          <a:latin typeface="Calibri"/>
                        </a:rPr>
                        <a:t>далее</a:t>
                      </a:r>
                    </a:p>
                  </a:txBody>
                  <a:tcPr anchor="ctr" marL="76200" marR="63500" marT="25400" marB="25400">
                    <a:solidFill>
                      <a:srgbClr val="FEF8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qui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0"/>
            <a:ext cx="2882900" cy="1602740"/>
          </a:xfrm>
          <a:prstGeom prst="rect">
            <a:avLst/>
          </a:prstGeom>
        </p:spPr>
      </p:pic>
      <p:pic>
        <p:nvPicPr>
          <p:cNvPr id="4" name="Picture 3" descr="badge_tech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256" y="0"/>
            <a:ext cx="2887980" cy="505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150" y="800100"/>
            <a:ext cx="101600" cy="50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260" y="723900"/>
            <a:ext cx="10922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3200">
                <a:solidFill>
                  <a:srgbClr val="111111"/>
                </a:solidFill>
                <a:latin typeface="Trebuchet MS"/>
              </a:rPr>
              <a:t>ПРОГРЕСС ЗА ВРЕМЯ АКСЕЛЕРАЦИИ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600">
                <a:solidFill>
                  <a:srgbClr val="A9A2B8"/>
                </a:solidFill>
                <a:latin typeface="Trebuchet M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230" y="1549400"/>
            <a:ext cx="11239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300">
                <a:solidFill>
                  <a:srgbClr val="333333"/>
                </a:solidFill>
                <a:latin typeface="Calibri"/>
              </a:rPr>
              <a:t>Достигнутые результаты за время участия в акселерационной программе ДГУ (решение, партнёрства, бизнес-составляющая).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0230" y="2260600"/>
          <a:ext cx="11239500" cy="292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61000"/>
                <a:gridCol w="5778500"/>
              </a:tblGrid>
              <a:tr h="406400"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До участия в акселерационной программе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После участия в акселерационной программе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111111"/>
                          </a:solidFill>
                          <a:latin typeface="Calibri"/>
                        </a:rPr>
                        <a:t>Уровень готовности технологии — концепция и макет (TRL 3)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111111"/>
                          </a:solidFill>
                          <a:latin typeface="Calibri"/>
                        </a:rPr>
                        <a:t>Уровень готовности технологии — прототип, работающее живое демо (TRL 4–6)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111111"/>
                          </a:solidFill>
                          <a:latin typeface="Calibri"/>
                        </a:rPr>
                        <a:t>Производственная готовность — идея и архитектура продукта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111111"/>
                          </a:solidFill>
                          <a:latin typeface="Calibri"/>
                        </a:rPr>
                        <a:t>Производственная готовность — развёрнутый каркас MVP (Next.js, FastAPI, Docker), демо-движок анализа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111111"/>
                          </a:solidFill>
                          <a:latin typeface="Calibri"/>
                        </a:rPr>
                        <a:t>Рыночная готовность — описание проблемы и гипотезы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111111"/>
                          </a:solidFill>
                          <a:latin typeface="Calibri"/>
                        </a:rPr>
                        <a:t>Рыночная готовность — определены сегменты TechNet/EduNet, модель монетизации (SaaS B2B), путь коммерциализации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111111"/>
                          </a:solidFill>
                          <a:latin typeface="Calibri"/>
                        </a:rPr>
                        <a:t>Партнерства — не сформированы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111111"/>
                          </a:solidFill>
                          <a:latin typeface="Calibri"/>
                        </a:rPr>
                        <a:t>Партнерства — акселератор ДГУ (обучение, наставничество, консалтинг), потенциальные площадки BigTech/EduNet для пилотов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0230" y="5397500"/>
            <a:ext cx="11239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0" sz="1200">
                <a:solidFill>
                  <a:srgbClr val="555062"/>
                </a:solidFill>
                <a:latin typeface="Calibri"/>
              </a:rPr>
              <a:t>Также за время акселерации проработана бизнес-составляющая: потребители, модель монетизации, конкурентный анализ и план пилотирования (1–5 месяцы).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qui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0"/>
            <a:ext cx="2882900" cy="1602740"/>
          </a:xfrm>
          <a:prstGeom prst="rect">
            <a:avLst/>
          </a:prstGeom>
        </p:spPr>
      </p:pic>
      <p:pic>
        <p:nvPicPr>
          <p:cNvPr id="4" name="Picture 3" descr="badge_tech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256" y="0"/>
            <a:ext cx="2887980" cy="505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150" y="800100"/>
            <a:ext cx="101600" cy="50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260" y="723900"/>
            <a:ext cx="10922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3200">
                <a:solidFill>
                  <a:srgbClr val="111111"/>
                </a:solidFill>
                <a:latin typeface="Trebuchet MS"/>
              </a:rPr>
              <a:t>ПЛАНЫ РАЗВИТИЯ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600">
                <a:solidFill>
                  <a:srgbClr val="A9A2B8"/>
                </a:solidFill>
                <a:latin typeface="Trebuchet M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230" y="1676400"/>
            <a:ext cx="11239500" cy="431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Исследования и разработка: </a:t>
            </a:r>
            <a:r>
              <a:rPr b="0" sz="1300">
                <a:solidFill>
                  <a:srgbClr val="333333"/>
                </a:solidFill>
                <a:latin typeface="Calibri"/>
              </a:rPr>
              <a:t>повышение точности дифференциации «человек / LLM», полноценное ИИ-ревью, расширение правил AI DevSecOps, интеграция в CI/CD. План реализации: 1–2 месяцы — проектирование и разработка MVP; 3 месяц — тестирование и валидация MVP; 4–5 месяцы — пилотирование и подготовка к B2B-сегменту.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Защита интеллектуальной собственности: </a:t>
            </a:r>
            <a:r>
              <a:rPr b="0" sz="1300">
                <a:solidFill>
                  <a:srgbClr val="333333"/>
                </a:solidFill>
                <a:latin typeface="Calibri"/>
              </a:rPr>
              <a:t>регистрация ПО, патентование метода верификации происхождения кода, оформление товарного знака «СинтаксПруф».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Маркетинг, внедрение и продвижение: </a:t>
            </a:r>
            <a:r>
              <a:rPr b="0" sz="1300">
                <a:solidFill>
                  <a:srgbClr val="333333"/>
                </a:solidFill>
                <a:latin typeface="Calibri"/>
              </a:rPr>
              <a:t>пилоты с B2B-командами, кейсы на образовательных площадках EduNet (2i school, VK education, Avito Start), публичное живое демо как инструмент привлечения.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Привлечение инвестиций: </a:t>
            </a:r>
            <a:r>
              <a:rPr b="0" sz="1300">
                <a:solidFill>
                  <a:srgbClr val="333333"/>
                </a:solidFill>
                <a:latin typeface="Calibri"/>
              </a:rPr>
              <a:t>финансирование доработки MVP и пилотирования по итогам валидации; подготовка материалов для инвесторов по результатам пилотов.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qui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0"/>
            <a:ext cx="2882900" cy="1602740"/>
          </a:xfrm>
          <a:prstGeom prst="rect">
            <a:avLst/>
          </a:prstGeom>
        </p:spPr>
      </p:pic>
      <p:pic>
        <p:nvPicPr>
          <p:cNvPr id="4" name="Picture 3" descr="badge_tech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256" y="0"/>
            <a:ext cx="2887980" cy="505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150" y="800100"/>
            <a:ext cx="101600" cy="50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260" y="723900"/>
            <a:ext cx="10922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3200">
                <a:solidFill>
                  <a:srgbClr val="111111"/>
                </a:solidFill>
                <a:latin typeface="Trebuchet MS"/>
              </a:rPr>
              <a:t>ЗАПРОС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600">
                <a:solidFill>
                  <a:srgbClr val="A9A2B8"/>
                </a:solidFill>
                <a:latin typeface="Trebuchet M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230" y="1676400"/>
            <a:ext cx="11239500" cy="40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Компетенции и экспертиза: </a:t>
            </a:r>
            <a:r>
              <a:rPr b="0" sz="1300">
                <a:solidFill>
                  <a:srgbClr val="333333"/>
                </a:solidFill>
                <a:latin typeface="Calibri"/>
              </a:rPr>
              <a:t>менторы по машинному обучению и анализу кода, экспертиза в кибербезопасности (AI DevSecOps), продуктовая экспертиза и go-to-market — для доведения MVP до промышленной точности.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Финансирование: </a:t>
            </a:r>
            <a:r>
              <a:rPr b="0" sz="1300">
                <a:solidFill>
                  <a:srgbClr val="333333"/>
                </a:solidFill>
                <a:latin typeface="Calibri"/>
              </a:rPr>
              <a:t>доработка MVP и проведение пилотных внедрений в B2B-сегменте (4–5 месяцы плана), подготовка промышленной эксплуатации.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Продвижение: </a:t>
            </a:r>
            <a:r>
              <a:rPr b="0" sz="1300">
                <a:solidFill>
                  <a:srgbClr val="333333"/>
                </a:solidFill>
                <a:latin typeface="Calibri"/>
              </a:rPr>
              <a:t>доступ к площадкам для пилотов — BigTech-компании, dev-команды малого бизнеса, образовательные организации EduNet.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300">
                <a:solidFill>
                  <a:srgbClr val="111111"/>
                </a:solidFill>
                <a:latin typeface="Calibri"/>
              </a:rPr>
              <a:t>Нетворкинг и партнерства: </a:t>
            </a:r>
            <a:r>
              <a:rPr b="0" sz="1300">
                <a:solidFill>
                  <a:srgbClr val="333333"/>
                </a:solidFill>
                <a:latin typeface="Calibri"/>
              </a:rPr>
              <a:t>контакты с dev-командами, HR-службами и образовательными платформами для валидации продукта и первых внедрений.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qui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0"/>
            <a:ext cx="2882900" cy="1602740"/>
          </a:xfrm>
          <a:prstGeom prst="rect">
            <a:avLst/>
          </a:prstGeom>
        </p:spPr>
      </p:pic>
      <p:pic>
        <p:nvPicPr>
          <p:cNvPr id="4" name="Picture 3" descr="badge_tech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8256" y="0"/>
            <a:ext cx="2887980" cy="505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150" y="800100"/>
            <a:ext cx="101600" cy="50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260" y="723900"/>
            <a:ext cx="10922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3200">
                <a:solidFill>
                  <a:srgbClr val="111111"/>
                </a:solidFill>
                <a:latin typeface="Trebuchet MS"/>
              </a:rPr>
              <a:t>ЭКСПЕРТНОЕ ЗАКЛЮЧЕНИЕ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13500"/>
            <a:ext cx="762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600">
                <a:solidFill>
                  <a:srgbClr val="A9A2B8"/>
                </a:solidFill>
                <a:latin typeface="Trebuchet M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230" y="1549400"/>
            <a:ext cx="11239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250">
                <a:solidFill>
                  <a:srgbClr val="333333"/>
                </a:solidFill>
                <a:latin typeface="Calibri"/>
              </a:rPr>
              <a:t>Приложите комментарии экспертов по проекту (не менее 5 заключений): теоретическая реализуемость, коммерческий потенциал, соответствие основным научным принципам. Укажите ФИО эксперта и ссылку на профиль в ИС «Эксперты НТИ».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0230" y="2438400"/>
          <a:ext cx="112395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500"/>
                <a:gridCol w="2984500"/>
                <a:gridCol w="3619500"/>
                <a:gridCol w="2667000"/>
                <a:gridCol w="1397000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ФИО эксперта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Ссылка на профиль в ИС «Эксперты НТИ»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Аспект заключения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 anchor="ctr" marL="76200" marR="63500" marT="25400" marB="25400">
                    <a:solidFill>
                      <a:srgbClr val="7A5F9E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[заполнить]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[заполнить]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Теоретическая реализуемость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ожидается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[заполнить]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[заполнить]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Коммерческий потенциал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ожидается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[заполнить]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[заполнить]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Соответствие научным принципам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ожидается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[заполнить]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[заполнить]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Технологическая экспертиза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ожидается</a:t>
                      </a:r>
                    </a:p>
                  </a:txBody>
                  <a:tcPr anchor="ctr" marL="76200" marR="63500" marT="25400" marB="25400">
                    <a:solidFill>
                      <a:srgbClr val="EBE8F0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[заполнить]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[заполнить]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Рыночная экспертиза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111111"/>
                          </a:solidFill>
                          <a:latin typeface="Calibri"/>
                        </a:rPr>
                        <a:t>ожидается</a:t>
                      </a:r>
                    </a:p>
                  </a:txBody>
                  <a:tcPr anchor="ctr" marL="76200" marR="63500" marT="25400" marB="25400">
                    <a:solidFill>
                      <a:srgbClr val="DCD7E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0230" y="4927600"/>
            <a:ext cx="11239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sz="1150">
                <a:solidFill>
                  <a:srgbClr val="555062"/>
                </a:solidFill>
                <a:latin typeface="Calibri"/>
              </a:rPr>
              <a:t>Статус: экспертные заключения прикладываются по мере согласования; обязательные поля каждого заключения — ФИО эксперта, профиль в ИС «Эксперты НТИ», содержательная часть (реализуемость, коммерческий потенциал, научные принципы).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