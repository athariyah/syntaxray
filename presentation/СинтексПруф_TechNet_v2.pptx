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2159000"/>
            <a:ext cx="6350000" cy="279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1350">
                <a:solidFill>
                  <a:srgbClr val="D9CFF0"/>
                </a:solidFill>
                <a:latin typeface="Arial"/>
              </a:rPr>
              <a:t>ПРОЕКТ АКСЕЛЕРАТОРА ДГУ / TECHNET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2857500"/>
            <a:ext cx="8890000" cy="736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4400">
                <a:solidFill>
                  <a:srgbClr val="FFFFFF"/>
                </a:solidFill>
                <a:latin typeface="Arial"/>
              </a:rPr>
              <a:t>СинтексПруф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3708400"/>
            <a:ext cx="10922000" cy="787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b="1" sz="1900">
                <a:solidFill>
                  <a:srgbClr val="FFFFFF"/>
                </a:solidFill>
                <a:latin typeface="Arial"/>
              </a:rPr>
              <a:t>Платформа статического анализа и ИИ-ревью production-кода
для IT-команд (C/C++/Python)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000" y="4724400"/>
            <a:ext cx="101600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0" sz="1300">
                <a:solidFill>
                  <a:srgbClr val="D9CFF0"/>
                </a:solidFill>
                <a:latin typeface="Arial"/>
              </a:rPr>
              <a:t>Встраивается в CI/CD и PR: снижает время ручного Code Review и повышает качество кода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2300" y="5689600"/>
            <a:ext cx="7620000" cy="71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b="1" sz="1600">
                <a:solidFill>
                  <a:srgbClr val="FFFFFF"/>
                </a:solidFill>
                <a:latin typeface="Arial"/>
              </a:rPr>
              <a:t>Исмаилов Ислам Шафикович</a:t>
            </a:r>
          </a:p>
          <a:p>
            <a:pPr algn="l"/>
            <a:r>
              <a:rPr b="0" sz="1300">
                <a:solidFill>
                  <a:srgbClr val="FFFFFF"/>
                </a:solidFill>
                <a:latin typeface="Arial"/>
              </a:rPr>
              <a:t>aldarfgfg@gmail.com • +7 (928) 218-30-30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2298700"/>
            <a:ext cx="104140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2100">
                <a:solidFill>
                  <a:srgbClr val="1F2937"/>
                </a:solidFill>
                <a:latin typeface="Arial"/>
              </a:rPr>
              <a:t>Проверка кода не масштабируется вместе с потоком работ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9910" y="2908300"/>
            <a:ext cx="3594100" cy="23241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07390" y="3098800"/>
            <a:ext cx="114300" cy="1930400"/>
          </a:xfrm>
          <a:prstGeom prst="rect">
            <a:avLst/>
          </a:prstGeom>
          <a:solidFill>
            <a:srgbClr val="933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3610" y="3086100"/>
            <a:ext cx="29845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1600">
                <a:solidFill>
                  <a:srgbClr val="1F2937"/>
                </a:solidFill>
                <a:latin typeface="Arial"/>
              </a:rPr>
              <a:t>Команды разработки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3610" y="3454400"/>
            <a:ext cx="2984500" cy="15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b="0" sz="1300">
                <a:solidFill>
                  <a:srgbClr val="4B5563"/>
                </a:solidFill>
                <a:latin typeface="Arial"/>
              </a:rPr>
              <a:t>До 20–30% времени Senior/Lead уходит на Code Review — узкое место в CI/CD и обратной связи.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6410" y="2908300"/>
            <a:ext cx="3594100" cy="23241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53890" y="3098800"/>
            <a:ext cx="114300" cy="1930400"/>
          </a:xfrm>
          <a:prstGeom prst="rect">
            <a:avLst/>
          </a:prstGeom>
          <a:solidFill>
            <a:srgbClr val="933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90110" y="3086100"/>
            <a:ext cx="29845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1600">
                <a:solidFill>
                  <a:srgbClr val="1F2937"/>
                </a:solidFill>
                <a:latin typeface="Arial"/>
              </a:rPr>
              <a:t>ИИ-генерация кода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90110" y="3454400"/>
            <a:ext cx="2984500" cy="15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b="0" sz="1300">
                <a:solidFill>
                  <a:srgbClr val="4B5563"/>
                </a:solidFill>
                <a:latin typeface="Arial"/>
              </a:rPr>
              <a:t>LLM-код содержит ошибки, слабые места и лишнюю сложность; нужен автоматический контроль.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2910" y="2908300"/>
            <a:ext cx="3594100" cy="23241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00390" y="3098800"/>
            <a:ext cx="114300" cy="1930400"/>
          </a:xfrm>
          <a:prstGeom prst="rect">
            <a:avLst/>
          </a:prstGeom>
          <a:solidFill>
            <a:srgbClr val="933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36610" y="3086100"/>
            <a:ext cx="29845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1600">
                <a:solidFill>
                  <a:srgbClr val="1F2937"/>
                </a:solidFill>
                <a:latin typeface="Arial"/>
              </a:rPr>
              <a:t>Рост потока изменений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36610" y="3454400"/>
            <a:ext cx="2984500" cy="15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b="0" sz="1300">
                <a:solidFill>
                  <a:srgbClr val="4B5563"/>
                </a:solidFill>
                <a:latin typeface="Arial"/>
              </a:rPr>
              <a:t>Микросервисы, CI/CD и частая поставка: ручное ревью не масштабируется, time-to-merge растёт.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2300" y="5511800"/>
            <a:ext cx="10160000" cy="279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1350">
                <a:solidFill>
                  <a:srgbClr val="6D28D9"/>
                </a:solidFill>
                <a:latin typeface="Arial"/>
              </a:rPr>
              <a:t>«EduNet: проверка учебных работ — дополнительный сценарий, не ядро проекта».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6451600"/>
            <a:ext cx="10414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0" sz="800">
                <a:solidFill>
                  <a:srgbClr val="6B7280"/>
                </a:solidFill>
                <a:latin typeface="Arial"/>
              </a:rPr>
              <a:t>Источник: «Акселератор.pdf», с. 2. Оценка 20–30% — тезис исходного питча, не проверенный замер.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2300" y="1739900"/>
            <a:ext cx="71120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2300">
                <a:solidFill>
                  <a:srgbClr val="1F2937"/>
                </a:solidFill>
                <a:latin typeface="Arial"/>
              </a:rPr>
              <a:t>От дефекта — к понятному объяснению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2300" y="2133600"/>
            <a:ext cx="7112000" cy="66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b="0" sz="1500">
                <a:solidFill>
                  <a:srgbClr val="4B5563"/>
                </a:solidFill>
                <a:latin typeface="Arial"/>
              </a:rPr>
              <a:t>Детерминированная проверка + ИИ-разбор:
риски, асимптотика и замечания с привязкой к строкам кода.</a:t>
            </a:r>
          </a:p>
        </p:txBody>
      </p:sp>
      <p:pic>
        <p:nvPicPr>
          <p:cNvPr id="5" name="Picture 4" descr="dem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830" y="2788920"/>
            <a:ext cx="7087870" cy="350647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204200" y="2006600"/>
            <a:ext cx="3238500" cy="17653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18500" y="2044700"/>
            <a:ext cx="30226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1450">
                <a:solidFill>
                  <a:srgbClr val="1F2937"/>
                </a:solidFill>
                <a:latin typeface="Arial"/>
              </a:rPr>
              <a:t>Заявленная цель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18500" y="2362200"/>
            <a:ext cx="3022600" cy="81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b="1" sz="1050">
                <a:solidFill>
                  <a:srgbClr val="6D28D9"/>
                </a:solidFill>
                <a:latin typeface="Arial"/>
              </a:rPr>
              <a:t>Сократить время ручного ревью и повысить качество production-кода в CI/CD. Точность и экономия не подтверждены — измеряем в пилоте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18500" y="3225800"/>
            <a:ext cx="3022600" cy="5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b="1" sz="1050">
                <a:solidFill>
                  <a:srgbClr val="1F2937"/>
                </a:solidFill>
                <a:latin typeface="Arial"/>
              </a:rPr>
              <a:t>Доп. функция для EduNet/HR:
определение LLM-кода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0400" y="6362700"/>
            <a:ext cx="109220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1050">
                <a:solidFill>
                  <a:srgbClr val="1F2937"/>
                </a:solidFill>
                <a:latin typeface="Arial"/>
              </a:rPr>
              <a:t>Метрики пилота: </a:t>
            </a:r>
            <a:r>
              <a:rPr b="0" sz="1050">
                <a:solidFill>
                  <a:srgbClr val="4B5563"/>
                </a:solidFill>
                <a:latin typeface="Arial"/>
              </a:rPr>
              <a:t>время ручного ревью, false positive / negative, time-to-merge, defect leakage, adoption в PR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5000" y="1422400"/>
            <a:ext cx="889000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2050">
                <a:solidFill>
                  <a:srgbClr val="1F2937"/>
                </a:solidFill>
                <a:latin typeface="Arial"/>
              </a:rPr>
              <a:t>Правила сначала. ИИ — для объяснения.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" y="1869440"/>
            <a:ext cx="6299200" cy="8509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6600" y="2021840"/>
            <a:ext cx="546100" cy="546100"/>
          </a:xfrm>
          <a:prstGeom prst="roundRect">
            <a:avLst>
              <a:gd name="adj" fmla="val 22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6600" y="2148840"/>
            <a:ext cx="5461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b="1" sz="1200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97000" y="1996440"/>
            <a:ext cx="5334000" cy="279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1500">
                <a:solidFill>
                  <a:srgbClr val="1F2937"/>
                </a:solidFill>
                <a:latin typeface="Arial"/>
              </a:rPr>
              <a:t>Ввод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97000" y="2288540"/>
            <a:ext cx="5334000" cy="431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200">
                <a:solidFill>
                  <a:srgbClr val="4B5563"/>
                </a:solidFill>
                <a:latin typeface="Arial"/>
              </a:rPr>
              <a:t>Исходный код C, C++ или Python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1500" y="2734310"/>
            <a:ext cx="6299200" cy="8509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6600" y="2886710"/>
            <a:ext cx="546100" cy="546100"/>
          </a:xfrm>
          <a:prstGeom prst="roundRect">
            <a:avLst>
              <a:gd name="adj" fmla="val 22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6600" y="3013710"/>
            <a:ext cx="5461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b="1" sz="1200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97000" y="2861310"/>
            <a:ext cx="5334000" cy="279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1500">
                <a:solidFill>
                  <a:srgbClr val="1F2937"/>
                </a:solidFill>
                <a:latin typeface="Arial"/>
              </a:rPr>
              <a:t>Анализ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97000" y="3153410"/>
            <a:ext cx="5334000" cy="431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200">
                <a:solidFill>
                  <a:srgbClr val="4B5563"/>
                </a:solidFill>
                <a:latin typeface="Arial"/>
              </a:rPr>
              <a:t>Статические проверки и выявление дефектов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1500" y="3596640"/>
            <a:ext cx="6299200" cy="8509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36600" y="3749040"/>
            <a:ext cx="546100" cy="546100"/>
          </a:xfrm>
          <a:prstGeom prst="roundRect">
            <a:avLst>
              <a:gd name="adj" fmla="val 22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6600" y="3876040"/>
            <a:ext cx="5461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b="1" sz="1200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97000" y="3723640"/>
            <a:ext cx="5334000" cy="279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1500">
                <a:solidFill>
                  <a:srgbClr val="1F2937"/>
                </a:solidFill>
                <a:latin typeface="Arial"/>
              </a:rPr>
              <a:t>ИИ-ревью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97000" y="4015740"/>
            <a:ext cx="5334000" cy="431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200">
                <a:solidFill>
                  <a:srgbClr val="4B5563"/>
                </a:solidFill>
                <a:latin typeface="Arial"/>
              </a:rPr>
              <a:t>Интерпретация риска и качества решения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1500" y="4460240"/>
            <a:ext cx="6299200" cy="8509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36600" y="4612640"/>
            <a:ext cx="546100" cy="546100"/>
          </a:xfrm>
          <a:prstGeom prst="roundRect">
            <a:avLst>
              <a:gd name="adj" fmla="val 22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6600" y="4739640"/>
            <a:ext cx="5461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b="1" sz="1200">
                <a:solidFill>
                  <a:srgbClr val="FFFFFF"/>
                </a:solidFill>
                <a:latin typeface="Arial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97000" y="4587240"/>
            <a:ext cx="5334000" cy="279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1500">
                <a:solidFill>
                  <a:srgbClr val="1F2937"/>
                </a:solidFill>
                <a:latin typeface="Arial"/>
              </a:rPr>
              <a:t>Отчёт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97000" y="4879340"/>
            <a:ext cx="5334000" cy="431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200">
                <a:solidFill>
                  <a:srgbClr val="4B5563"/>
                </a:solidFill>
                <a:latin typeface="Arial"/>
              </a:rPr>
              <a:t>Приоритет и замечания по строкам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71500" y="5306060"/>
            <a:ext cx="6299200" cy="8509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36600" y="5458460"/>
            <a:ext cx="546100" cy="546100"/>
          </a:xfrm>
          <a:prstGeom prst="roundRect">
            <a:avLst>
              <a:gd name="adj" fmla="val 22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6600" y="5585460"/>
            <a:ext cx="5461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b="1" sz="1200">
                <a:solidFill>
                  <a:srgbClr val="FFFFFF"/>
                </a:solidFill>
                <a:latin typeface="Arial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97000" y="5433060"/>
            <a:ext cx="5334000" cy="279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1500">
                <a:solidFill>
                  <a:srgbClr val="1F2937"/>
                </a:solidFill>
                <a:latin typeface="Arial"/>
              </a:rPr>
              <a:t>Интеграция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97000" y="5725160"/>
            <a:ext cx="5334000" cy="431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200">
                <a:solidFill>
                  <a:srgbClr val="4B5563"/>
                </a:solidFill>
                <a:latin typeface="Arial"/>
              </a:rPr>
              <a:t>GitHub/GitLab, CI/CD, SARIF, REST API, pre-commit,
комментарии в PR/MR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9600" y="6197600"/>
            <a:ext cx="8382000" cy="63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b="0" sz="1050">
                <a:solidFill>
                  <a:srgbClr val="1F2937"/>
                </a:solidFill>
                <a:latin typeface="Arial"/>
              </a:rPr>
              <a:t>Стек: React / Next.js • Python / FastAPI • Docker • PostgreSQL • Redis • очереди</a:t>
            </a:r>
          </a:p>
          <a:p>
            <a:pPr algn="l">
              <a:spcAft>
                <a:spcPts val="300"/>
              </a:spcAft>
            </a:pPr>
            <a:r>
              <a:rPr b="0" sz="1050">
                <a:solidFill>
                  <a:srgbClr val="1F2937"/>
                </a:solidFill>
                <a:latin typeface="Arial"/>
              </a:rPr>
              <a:t>Режимы: SaaS / on-prem • Соответствует TechNet: ИИ/ML, обработка данных, DevTools</a:t>
            </a:r>
          </a:p>
          <a:p>
            <a:pPr algn="l"/>
            <a:r>
              <a:rPr b="0" sz="950">
                <a:solidFill>
                  <a:srgbClr val="6B7280"/>
                </a:solidFill>
                <a:latin typeface="Arial"/>
              </a:rPr>
              <a:t>EduNet: частный сценарий на той же платформе • Сквозная технология — искусственный интеллект (НТИ)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58800" y="1663700"/>
            <a:ext cx="1092200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1650">
                <a:solidFill>
                  <a:srgbClr val="1F2937"/>
                </a:solidFill>
                <a:latin typeface="Arial"/>
              </a:rPr>
              <a:t>Позиционирование: ревью кода для TechNet. EduNet — дополнительный сценарий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8800" y="2044700"/>
            <a:ext cx="10922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0" sz="1250">
                <a:solidFill>
                  <a:srgbClr val="4B5563"/>
                </a:solidFill>
                <a:latin typeface="Arial"/>
              </a:rPr>
              <a:t>Сравнение сценариев по открытым описаниям, без измерения точности и цены.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82600" y="2540000"/>
          <a:ext cx="11150600" cy="3200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86000"/>
                <a:gridCol w="2413000"/>
                <a:gridCol w="2222500"/>
                <a:gridCol w="1968500"/>
                <a:gridCol w="2260600"/>
              </a:tblGrid>
              <a:tr h="584200">
                <a:tc>
                  <a:txBody>
                    <a:bodyPr wrap="square"/>
                    <a:lstStyle/>
                    <a:p>
                      <a:pPr algn="l"/>
                      <a:r>
                        <a:rPr b="1" sz="1100">
                          <a:solidFill>
                            <a:srgbClr val="FFFFFF"/>
                          </a:solidFill>
                          <a:latin typeface="Arial"/>
                        </a:rPr>
                        <a:t>Критерий</a:t>
                      </a:r>
                    </a:p>
                  </a:txBody>
                  <a:tcPr anchor="ctr" marL="88900" marR="76200" marT="38100" marB="38100">
                    <a:solidFill>
                      <a:srgbClr val="5B2E8E"/>
                    </a:solidFill>
                    <a:lnL w="9525" cap="flat" cmpd="sng" algn="ctr">
                      <a:solidFill>
                        <a:srgbClr val="5B2E8E"/>
                      </a:solidFill>
                    </a:lnL>
                    <a:lnR w="9525" cap="flat" cmpd="sng" algn="ctr">
                      <a:solidFill>
                        <a:srgbClr val="5B2E8E"/>
                      </a:solidFill>
                    </a:lnR>
                    <a:lnT w="9525" cap="flat" cmpd="sng" algn="ctr">
                      <a:solidFill>
                        <a:srgbClr val="5B2E8E"/>
                      </a:solidFill>
                    </a:lnT>
                    <a:lnB w="9525" cap="flat" cmpd="sng" algn="ctr">
                      <a:solidFill>
                        <a:srgbClr val="5B2E8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1" sz="1100">
                          <a:solidFill>
                            <a:srgbClr val="FFFFFF"/>
                          </a:solidFill>
                          <a:latin typeface="Arial"/>
                        </a:rPr>
                        <a:t>СинтексПруф</a:t>
                      </a:r>
                    </a:p>
                    <a:p>
                      <a:pPr algn="l"/>
                      <a:r>
                        <a:rPr b="1" sz="1100">
                          <a:solidFill>
                            <a:srgbClr val="FFFFFF"/>
                          </a:solidFill>
                          <a:latin typeface="Arial"/>
                        </a:rPr>
                        <a:t>проект ДГУ</a:t>
                      </a:r>
                    </a:p>
                  </a:txBody>
                  <a:tcPr anchor="ctr" marL="88900" marR="76200" marT="38100" marB="38100">
                    <a:solidFill>
                      <a:srgbClr val="5B2E8E"/>
                    </a:solidFill>
                    <a:lnL w="9525" cap="flat" cmpd="sng" algn="ctr">
                      <a:solidFill>
                        <a:srgbClr val="5B2E8E"/>
                      </a:solidFill>
                    </a:lnL>
                    <a:lnR w="9525" cap="flat" cmpd="sng" algn="ctr">
                      <a:solidFill>
                        <a:srgbClr val="5B2E8E"/>
                      </a:solidFill>
                    </a:lnR>
                    <a:lnT w="9525" cap="flat" cmpd="sng" algn="ctr">
                      <a:solidFill>
                        <a:srgbClr val="5B2E8E"/>
                      </a:solidFill>
                    </a:lnT>
                    <a:lnB w="9525" cap="flat" cmpd="sng" algn="ctr">
                      <a:solidFill>
                        <a:srgbClr val="5B2E8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1" sz="1100">
                          <a:solidFill>
                            <a:srgbClr val="FFFFFF"/>
                          </a:solidFill>
                          <a:latin typeface="Arial"/>
                        </a:rPr>
                        <a:t>SonarQube</a:t>
                      </a:r>
                    </a:p>
                    <a:p>
                      <a:pPr algn="l"/>
                      <a:r>
                        <a:rPr b="1" sz="1100">
                          <a:solidFill>
                            <a:srgbClr val="FFFFFF"/>
                          </a:solidFill>
                          <a:latin typeface="Arial"/>
                        </a:rPr>
                        <a:t>SonarSource, Швейцария</a:t>
                      </a:r>
                    </a:p>
                  </a:txBody>
                  <a:tcPr anchor="ctr" marL="88900" marR="76200" marT="38100" marB="38100">
                    <a:solidFill>
                      <a:srgbClr val="5B2E8E"/>
                    </a:solidFill>
                    <a:lnL w="9525" cap="flat" cmpd="sng" algn="ctr">
                      <a:solidFill>
                        <a:srgbClr val="5B2E8E"/>
                      </a:solidFill>
                    </a:lnL>
                    <a:lnR w="9525" cap="flat" cmpd="sng" algn="ctr">
                      <a:solidFill>
                        <a:srgbClr val="5B2E8E"/>
                      </a:solidFill>
                    </a:lnR>
                    <a:lnT w="9525" cap="flat" cmpd="sng" algn="ctr">
                      <a:solidFill>
                        <a:srgbClr val="5B2E8E"/>
                      </a:solidFill>
                    </a:lnT>
                    <a:lnB w="9525" cap="flat" cmpd="sng" algn="ctr">
                      <a:solidFill>
                        <a:srgbClr val="5B2E8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1" sz="1100">
                          <a:solidFill>
                            <a:srgbClr val="FFFFFF"/>
                          </a:solidFill>
                          <a:latin typeface="Arial"/>
                        </a:rPr>
                        <a:t>CodeRabbit</a:t>
                      </a:r>
                    </a:p>
                    <a:p>
                      <a:pPr algn="l"/>
                      <a:r>
                        <a:rPr b="1" sz="1100">
                          <a:solidFill>
                            <a:srgbClr val="FFFFFF"/>
                          </a:solidFill>
                          <a:latin typeface="Arial"/>
                        </a:rPr>
                        <a:t>США</a:t>
                      </a:r>
                    </a:p>
                  </a:txBody>
                  <a:tcPr anchor="ctr" marL="88900" marR="76200" marT="38100" marB="38100">
                    <a:solidFill>
                      <a:srgbClr val="5B2E8E"/>
                    </a:solidFill>
                    <a:lnL w="9525" cap="flat" cmpd="sng" algn="ctr">
                      <a:solidFill>
                        <a:srgbClr val="5B2E8E"/>
                      </a:solidFill>
                    </a:lnL>
                    <a:lnR w="9525" cap="flat" cmpd="sng" algn="ctr">
                      <a:solidFill>
                        <a:srgbClr val="5B2E8E"/>
                      </a:solidFill>
                    </a:lnR>
                    <a:lnT w="9525" cap="flat" cmpd="sng" algn="ctr">
                      <a:solidFill>
                        <a:srgbClr val="5B2E8E"/>
                      </a:solidFill>
                    </a:lnT>
                    <a:lnB w="9525" cap="flat" cmpd="sng" algn="ctr">
                      <a:solidFill>
                        <a:srgbClr val="5B2E8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1" sz="1100">
                          <a:solidFill>
                            <a:srgbClr val="FFFFFF"/>
                          </a:solidFill>
                          <a:latin typeface="Arial"/>
                        </a:rPr>
                        <a:t>Copilot Review</a:t>
                      </a:r>
                    </a:p>
                    <a:p>
                      <a:pPr algn="l"/>
                      <a:r>
                        <a:rPr b="1" sz="1100">
                          <a:solidFill>
                            <a:srgbClr val="FFFFFF"/>
                          </a:solidFill>
                          <a:latin typeface="Arial"/>
                        </a:rPr>
                        <a:t>GitHub, США</a:t>
                      </a:r>
                    </a:p>
                  </a:txBody>
                  <a:tcPr anchor="ctr" marL="88900" marR="76200" marT="38100" marB="38100">
                    <a:solidFill>
                      <a:srgbClr val="5B2E8E"/>
                    </a:solidFill>
                    <a:lnL w="9525" cap="flat" cmpd="sng" algn="ctr">
                      <a:solidFill>
                        <a:srgbClr val="5B2E8E"/>
                      </a:solidFill>
                    </a:lnL>
                    <a:lnR w="9525" cap="flat" cmpd="sng" algn="ctr">
                      <a:solidFill>
                        <a:srgbClr val="5B2E8E"/>
                      </a:solidFill>
                    </a:lnR>
                    <a:lnT w="9525" cap="flat" cmpd="sng" algn="ctr">
                      <a:solidFill>
                        <a:srgbClr val="5B2E8E"/>
                      </a:solidFill>
                    </a:lnT>
                    <a:lnB w="9525" cap="flat" cmpd="sng" algn="ctr">
                      <a:solidFill>
                        <a:srgbClr val="5B2E8E"/>
                      </a:solidFill>
                    </a:lnB>
                  </a:tcPr>
                </a:tc>
              </a:tr>
              <a:tr h="660400">
                <a:tc>
                  <a:txBody>
                    <a:bodyPr wrap="square"/>
                    <a:lstStyle/>
                    <a:p>
                      <a:pPr algn="l"/>
                      <a:r>
                        <a:rPr b="1" sz="1050">
                          <a:solidFill>
                            <a:srgbClr val="1F2937"/>
                          </a:solidFill>
                          <a:latin typeface="Arial"/>
                        </a:rPr>
                        <a:t>Назначение</a:t>
                      </a:r>
                    </a:p>
                  </a:txBody>
                  <a:tcPr anchor="ctr" marL="88900" marR="76200" marT="38100" marB="38100">
                    <a:solidFill>
                      <a:srgbClr val="FFFFFF"/>
                    </a:solidFill>
                    <a:lnL w="9525" cap="flat" cmpd="sng" algn="ctr">
                      <a:solidFill>
                        <a:srgbClr val="C9C2D8"/>
                      </a:solidFill>
                    </a:lnL>
                    <a:lnR w="9525" cap="flat" cmpd="sng" algn="ctr">
                      <a:solidFill>
                        <a:srgbClr val="C9C2D8"/>
                      </a:solidFill>
                    </a:lnR>
                    <a:lnT w="9525" cap="flat" cmpd="sng" algn="ctr">
                      <a:solidFill>
                        <a:srgbClr val="C9C2D8"/>
                      </a:solidFill>
                    </a:lnT>
                    <a:lnB w="9525" cap="flat" cmpd="sng" algn="ctr">
                      <a:solidFill>
                        <a:srgbClr val="C9C2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1050">
                          <a:solidFill>
                            <a:srgbClr val="1F2937"/>
                          </a:solidFill>
                          <a:latin typeface="Arial"/>
                        </a:rPr>
                        <a:t>Проверка production-кода и ИИ-ревью pull requests для IT-команд</a:t>
                      </a:r>
                    </a:p>
                  </a:txBody>
                  <a:tcPr anchor="ctr" marL="88900" marR="76200" marT="38100" marB="38100">
                    <a:solidFill>
                      <a:srgbClr val="FFFFFF"/>
                    </a:solidFill>
                    <a:lnL w="9525" cap="flat" cmpd="sng" algn="ctr">
                      <a:solidFill>
                        <a:srgbClr val="C9C2D8"/>
                      </a:solidFill>
                    </a:lnL>
                    <a:lnR w="9525" cap="flat" cmpd="sng" algn="ctr">
                      <a:solidFill>
                        <a:srgbClr val="C9C2D8"/>
                      </a:solidFill>
                    </a:lnR>
                    <a:lnT w="9525" cap="flat" cmpd="sng" algn="ctr">
                      <a:solidFill>
                        <a:srgbClr val="C9C2D8"/>
                      </a:solidFill>
                    </a:lnT>
                    <a:lnB w="9525" cap="flat" cmpd="sng" algn="ctr">
                      <a:solidFill>
                        <a:srgbClr val="C9C2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1050">
                          <a:solidFill>
                            <a:srgbClr val="1F2937"/>
                          </a:solidFill>
                          <a:latin typeface="Arial"/>
                        </a:rPr>
                        <a:t>Качество и безопасность ПО</a:t>
                      </a:r>
                    </a:p>
                  </a:txBody>
                  <a:tcPr anchor="ctr" marL="88900" marR="76200" marT="38100" marB="38100">
                    <a:solidFill>
                      <a:srgbClr val="FFFFFF"/>
                    </a:solidFill>
                    <a:lnL w="9525" cap="flat" cmpd="sng" algn="ctr">
                      <a:solidFill>
                        <a:srgbClr val="C9C2D8"/>
                      </a:solidFill>
                    </a:lnL>
                    <a:lnR w="9525" cap="flat" cmpd="sng" algn="ctr">
                      <a:solidFill>
                        <a:srgbClr val="C9C2D8"/>
                      </a:solidFill>
                    </a:lnR>
                    <a:lnT w="9525" cap="flat" cmpd="sng" algn="ctr">
                      <a:solidFill>
                        <a:srgbClr val="C9C2D8"/>
                      </a:solidFill>
                    </a:lnT>
                    <a:lnB w="9525" cap="flat" cmpd="sng" algn="ctr">
                      <a:solidFill>
                        <a:srgbClr val="C9C2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1050">
                          <a:solidFill>
                            <a:srgbClr val="1F2937"/>
                          </a:solidFill>
                          <a:latin typeface="Arial"/>
                        </a:rPr>
                        <a:t>ИИ-ревью pull requests</a:t>
                      </a:r>
                    </a:p>
                  </a:txBody>
                  <a:tcPr anchor="ctr" marL="88900" marR="76200" marT="38100" marB="38100">
                    <a:solidFill>
                      <a:srgbClr val="FFFFFF"/>
                    </a:solidFill>
                    <a:lnL w="9525" cap="flat" cmpd="sng" algn="ctr">
                      <a:solidFill>
                        <a:srgbClr val="C9C2D8"/>
                      </a:solidFill>
                    </a:lnL>
                    <a:lnR w="9525" cap="flat" cmpd="sng" algn="ctr">
                      <a:solidFill>
                        <a:srgbClr val="C9C2D8"/>
                      </a:solidFill>
                    </a:lnR>
                    <a:lnT w="9525" cap="flat" cmpd="sng" algn="ctr">
                      <a:solidFill>
                        <a:srgbClr val="C9C2D8"/>
                      </a:solidFill>
                    </a:lnT>
                    <a:lnB w="9525" cap="flat" cmpd="sng" algn="ctr">
                      <a:solidFill>
                        <a:srgbClr val="C9C2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1050">
                          <a:solidFill>
                            <a:srgbClr val="1F2937"/>
                          </a:solidFill>
                          <a:latin typeface="Arial"/>
                        </a:rPr>
                        <a:t>ИИ-ревью pull requests</a:t>
                      </a:r>
                    </a:p>
                  </a:txBody>
                  <a:tcPr anchor="ctr" marL="88900" marR="76200" marT="38100" marB="38100">
                    <a:solidFill>
                      <a:srgbClr val="FFFFFF"/>
                    </a:solidFill>
                    <a:lnL w="9525" cap="flat" cmpd="sng" algn="ctr">
                      <a:solidFill>
                        <a:srgbClr val="C9C2D8"/>
                      </a:solidFill>
                    </a:lnL>
                    <a:lnR w="9525" cap="flat" cmpd="sng" algn="ctr">
                      <a:solidFill>
                        <a:srgbClr val="C9C2D8"/>
                      </a:solidFill>
                    </a:lnR>
                    <a:lnT w="9525" cap="flat" cmpd="sng" algn="ctr">
                      <a:solidFill>
                        <a:srgbClr val="C9C2D8"/>
                      </a:solidFill>
                    </a:lnT>
                    <a:lnB w="9525" cap="flat" cmpd="sng" algn="ctr">
                      <a:solidFill>
                        <a:srgbClr val="C9C2D8"/>
                      </a:solidFill>
                    </a:lnB>
                  </a:tcPr>
                </a:tc>
              </a:tr>
              <a:tr h="558800">
                <a:tc>
                  <a:txBody>
                    <a:bodyPr wrap="square"/>
                    <a:lstStyle/>
                    <a:p>
                      <a:pPr algn="l"/>
                      <a:r>
                        <a:rPr b="1" sz="1050">
                          <a:solidFill>
                            <a:srgbClr val="1F2937"/>
                          </a:solidFill>
                          <a:latin typeface="Arial"/>
                        </a:rPr>
                        <a:t>Основной подход</a:t>
                      </a:r>
                    </a:p>
                  </a:txBody>
                  <a:tcPr anchor="ctr" marL="88900" marR="76200" marT="38100" marB="38100">
                    <a:solidFill>
                      <a:srgbClr val="F6F2FA"/>
                    </a:solidFill>
                    <a:lnL w="9525" cap="flat" cmpd="sng" algn="ctr">
                      <a:solidFill>
                        <a:srgbClr val="C9C2D8"/>
                      </a:solidFill>
                    </a:lnL>
                    <a:lnR w="9525" cap="flat" cmpd="sng" algn="ctr">
                      <a:solidFill>
                        <a:srgbClr val="C9C2D8"/>
                      </a:solidFill>
                    </a:lnR>
                    <a:lnT w="9525" cap="flat" cmpd="sng" algn="ctr">
                      <a:solidFill>
                        <a:srgbClr val="C9C2D8"/>
                      </a:solidFill>
                    </a:lnT>
                    <a:lnB w="9525" cap="flat" cmpd="sng" algn="ctr">
                      <a:solidFill>
                        <a:srgbClr val="C9C2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1050">
                          <a:solidFill>
                            <a:srgbClr val="1F2937"/>
                          </a:solidFill>
                          <a:latin typeface="Arial"/>
                        </a:rPr>
                        <a:t>Правила + ИИ</a:t>
                      </a:r>
                    </a:p>
                  </a:txBody>
                  <a:tcPr anchor="ctr" marL="88900" marR="76200" marT="38100" marB="38100">
                    <a:solidFill>
                      <a:srgbClr val="F6F2FA"/>
                    </a:solidFill>
                    <a:lnL w="9525" cap="flat" cmpd="sng" algn="ctr">
                      <a:solidFill>
                        <a:srgbClr val="C9C2D8"/>
                      </a:solidFill>
                    </a:lnL>
                    <a:lnR w="9525" cap="flat" cmpd="sng" algn="ctr">
                      <a:solidFill>
                        <a:srgbClr val="C9C2D8"/>
                      </a:solidFill>
                    </a:lnR>
                    <a:lnT w="9525" cap="flat" cmpd="sng" algn="ctr">
                      <a:solidFill>
                        <a:srgbClr val="C9C2D8"/>
                      </a:solidFill>
                    </a:lnT>
                    <a:lnB w="9525" cap="flat" cmpd="sng" algn="ctr">
                      <a:solidFill>
                        <a:srgbClr val="C9C2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1050">
                          <a:solidFill>
                            <a:srgbClr val="1F2937"/>
                          </a:solidFill>
                          <a:latin typeface="Arial"/>
                        </a:rPr>
                        <a:t>Правила; AI CodeFix для ряда задач</a:t>
                      </a:r>
                    </a:p>
                  </a:txBody>
                  <a:tcPr anchor="ctr" marL="88900" marR="76200" marT="38100" marB="38100">
                    <a:solidFill>
                      <a:srgbClr val="F6F2FA"/>
                    </a:solidFill>
                    <a:lnL w="9525" cap="flat" cmpd="sng" algn="ctr">
                      <a:solidFill>
                        <a:srgbClr val="C9C2D8"/>
                      </a:solidFill>
                    </a:lnL>
                    <a:lnR w="9525" cap="flat" cmpd="sng" algn="ctr">
                      <a:solidFill>
                        <a:srgbClr val="C9C2D8"/>
                      </a:solidFill>
                    </a:lnR>
                    <a:lnT w="9525" cap="flat" cmpd="sng" algn="ctr">
                      <a:solidFill>
                        <a:srgbClr val="C9C2D8"/>
                      </a:solidFill>
                    </a:lnT>
                    <a:lnB w="9525" cap="flat" cmpd="sng" algn="ctr">
                      <a:solidFill>
                        <a:srgbClr val="C9C2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1050">
                          <a:solidFill>
                            <a:srgbClr val="1F2937"/>
                          </a:solidFill>
                          <a:latin typeface="Arial"/>
                        </a:rPr>
                        <a:t>ИИ + статические инструменты</a:t>
                      </a:r>
                    </a:p>
                  </a:txBody>
                  <a:tcPr anchor="ctr" marL="88900" marR="76200" marT="38100" marB="38100">
                    <a:solidFill>
                      <a:srgbClr val="F6F2FA"/>
                    </a:solidFill>
                    <a:lnL w="9525" cap="flat" cmpd="sng" algn="ctr">
                      <a:solidFill>
                        <a:srgbClr val="C9C2D8"/>
                      </a:solidFill>
                    </a:lnL>
                    <a:lnR w="9525" cap="flat" cmpd="sng" algn="ctr">
                      <a:solidFill>
                        <a:srgbClr val="C9C2D8"/>
                      </a:solidFill>
                    </a:lnR>
                    <a:lnT w="9525" cap="flat" cmpd="sng" algn="ctr">
                      <a:solidFill>
                        <a:srgbClr val="C9C2D8"/>
                      </a:solidFill>
                    </a:lnT>
                    <a:lnB w="9525" cap="flat" cmpd="sng" algn="ctr">
                      <a:solidFill>
                        <a:srgbClr val="C9C2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1050">
                          <a:solidFill>
                            <a:srgbClr val="1F2937"/>
                          </a:solidFill>
                          <a:latin typeface="Arial"/>
                        </a:rPr>
                        <a:t>ИИ-обратная связь</a:t>
                      </a:r>
                    </a:p>
                  </a:txBody>
                  <a:tcPr anchor="ctr" marL="88900" marR="76200" marT="38100" marB="38100">
                    <a:solidFill>
                      <a:srgbClr val="F6F2FA"/>
                    </a:solidFill>
                    <a:lnL w="9525" cap="flat" cmpd="sng" algn="ctr">
                      <a:solidFill>
                        <a:srgbClr val="C9C2D8"/>
                      </a:solidFill>
                    </a:lnL>
                    <a:lnR w="9525" cap="flat" cmpd="sng" algn="ctr">
                      <a:solidFill>
                        <a:srgbClr val="C9C2D8"/>
                      </a:solidFill>
                    </a:lnR>
                    <a:lnT w="9525" cap="flat" cmpd="sng" algn="ctr">
                      <a:solidFill>
                        <a:srgbClr val="C9C2D8"/>
                      </a:solidFill>
                    </a:lnT>
                    <a:lnB w="9525" cap="flat" cmpd="sng" algn="ctr">
                      <a:solidFill>
                        <a:srgbClr val="C9C2D8"/>
                      </a:solidFill>
                    </a:lnB>
                  </a:tcPr>
                </a:tc>
              </a:tr>
              <a:tr h="660400">
                <a:tc>
                  <a:txBody>
                    <a:bodyPr wrap="square"/>
                    <a:lstStyle/>
                    <a:p>
                      <a:pPr algn="l"/>
                      <a:r>
                        <a:rPr b="1" sz="1050">
                          <a:solidFill>
                            <a:srgbClr val="1F2937"/>
                          </a:solidFill>
                          <a:latin typeface="Arial"/>
                        </a:rPr>
                        <a:t>Рабочий процесс</a:t>
                      </a:r>
                    </a:p>
                  </a:txBody>
                  <a:tcPr anchor="ctr" marL="88900" marR="76200" marT="38100" marB="38100">
                    <a:solidFill>
                      <a:srgbClr val="FFFFFF"/>
                    </a:solidFill>
                    <a:lnL w="9525" cap="flat" cmpd="sng" algn="ctr">
                      <a:solidFill>
                        <a:srgbClr val="C9C2D8"/>
                      </a:solidFill>
                    </a:lnL>
                    <a:lnR w="9525" cap="flat" cmpd="sng" algn="ctr">
                      <a:solidFill>
                        <a:srgbClr val="C9C2D8"/>
                      </a:solidFill>
                    </a:lnR>
                    <a:lnT w="9525" cap="flat" cmpd="sng" algn="ctr">
                      <a:solidFill>
                        <a:srgbClr val="C9C2D8"/>
                      </a:solidFill>
                    </a:lnT>
                    <a:lnB w="9525" cap="flat" cmpd="sng" algn="ctr">
                      <a:solidFill>
                        <a:srgbClr val="C9C2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1050">
                          <a:solidFill>
                            <a:srgbClr val="1F2937"/>
                          </a:solidFill>
                          <a:latin typeface="Arial"/>
                        </a:rPr>
                        <a:t>PR/MR, CI, IDE, отчёт по строкам; загрузка кода — fallback</a:t>
                      </a:r>
                    </a:p>
                  </a:txBody>
                  <a:tcPr anchor="ctr" marL="88900" marR="76200" marT="38100" marB="38100">
                    <a:solidFill>
                      <a:srgbClr val="FFFFFF"/>
                    </a:solidFill>
                    <a:lnL w="9525" cap="flat" cmpd="sng" algn="ctr">
                      <a:solidFill>
                        <a:srgbClr val="C9C2D8"/>
                      </a:solidFill>
                    </a:lnL>
                    <a:lnR w="9525" cap="flat" cmpd="sng" algn="ctr">
                      <a:solidFill>
                        <a:srgbClr val="C9C2D8"/>
                      </a:solidFill>
                    </a:lnR>
                    <a:lnT w="9525" cap="flat" cmpd="sng" algn="ctr">
                      <a:solidFill>
                        <a:srgbClr val="C9C2D8"/>
                      </a:solidFill>
                    </a:lnT>
                    <a:lnB w="9525" cap="flat" cmpd="sng" algn="ctr">
                      <a:solidFill>
                        <a:srgbClr val="C9C2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1050">
                          <a:solidFill>
                            <a:srgbClr val="1F2937"/>
                          </a:solidFill>
                          <a:latin typeface="Arial"/>
                        </a:rPr>
                        <a:t>Анализ проекта, список issues</a:t>
                      </a:r>
                    </a:p>
                  </a:txBody>
                  <a:tcPr anchor="ctr" marL="88900" marR="76200" marT="38100" marB="38100">
                    <a:solidFill>
                      <a:srgbClr val="FFFFFF"/>
                    </a:solidFill>
                    <a:lnL w="9525" cap="flat" cmpd="sng" algn="ctr">
                      <a:solidFill>
                        <a:srgbClr val="C9C2D8"/>
                      </a:solidFill>
                    </a:lnL>
                    <a:lnR w="9525" cap="flat" cmpd="sng" algn="ctr">
                      <a:solidFill>
                        <a:srgbClr val="C9C2D8"/>
                      </a:solidFill>
                    </a:lnR>
                    <a:lnT w="9525" cap="flat" cmpd="sng" algn="ctr">
                      <a:solidFill>
                        <a:srgbClr val="C9C2D8"/>
                      </a:solidFill>
                    </a:lnT>
                    <a:lnB w="9525" cap="flat" cmpd="sng" algn="ctr">
                      <a:solidFill>
                        <a:srgbClr val="C9C2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1050">
                          <a:solidFill>
                            <a:srgbClr val="1F2937"/>
                          </a:solidFill>
                          <a:latin typeface="Arial"/>
                        </a:rPr>
                        <a:t>Коммиты и pull requests</a:t>
                      </a:r>
                    </a:p>
                  </a:txBody>
                  <a:tcPr anchor="ctr" marL="88900" marR="76200" marT="38100" marB="38100">
                    <a:solidFill>
                      <a:srgbClr val="FFFFFF"/>
                    </a:solidFill>
                    <a:lnL w="9525" cap="flat" cmpd="sng" algn="ctr">
                      <a:solidFill>
                        <a:srgbClr val="C9C2D8"/>
                      </a:solidFill>
                    </a:lnL>
                    <a:lnR w="9525" cap="flat" cmpd="sng" algn="ctr">
                      <a:solidFill>
                        <a:srgbClr val="C9C2D8"/>
                      </a:solidFill>
                    </a:lnR>
                    <a:lnT w="9525" cap="flat" cmpd="sng" algn="ctr">
                      <a:solidFill>
                        <a:srgbClr val="C9C2D8"/>
                      </a:solidFill>
                    </a:lnT>
                    <a:lnB w="9525" cap="flat" cmpd="sng" algn="ctr">
                      <a:solidFill>
                        <a:srgbClr val="C9C2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1050">
                          <a:solidFill>
                            <a:srgbClr val="1F2937"/>
                          </a:solidFill>
                          <a:latin typeface="Arial"/>
                        </a:rPr>
                        <a:t>PR и IDE</a:t>
                      </a:r>
                    </a:p>
                  </a:txBody>
                  <a:tcPr anchor="ctr" marL="88900" marR="76200" marT="38100" marB="38100">
                    <a:solidFill>
                      <a:srgbClr val="FFFFFF"/>
                    </a:solidFill>
                    <a:lnL w="9525" cap="flat" cmpd="sng" algn="ctr">
                      <a:solidFill>
                        <a:srgbClr val="C9C2D8"/>
                      </a:solidFill>
                    </a:lnL>
                    <a:lnR w="9525" cap="flat" cmpd="sng" algn="ctr">
                      <a:solidFill>
                        <a:srgbClr val="C9C2D8"/>
                      </a:solidFill>
                    </a:lnR>
                    <a:lnT w="9525" cap="flat" cmpd="sng" algn="ctr">
                      <a:solidFill>
                        <a:srgbClr val="C9C2D8"/>
                      </a:solidFill>
                    </a:lnT>
                    <a:lnB w="9525" cap="flat" cmpd="sng" algn="ctr">
                      <a:solidFill>
                        <a:srgbClr val="C9C2D8"/>
                      </a:solidFill>
                    </a:lnB>
                  </a:tcPr>
                </a:tc>
              </a:tr>
              <a:tr h="736600">
                <a:tc>
                  <a:txBody>
                    <a:bodyPr wrap="square"/>
                    <a:lstStyle/>
                    <a:p>
                      <a:pPr algn="l"/>
                      <a:r>
                        <a:rPr b="1" sz="1050">
                          <a:solidFill>
                            <a:srgbClr val="1F2937"/>
                          </a:solidFill>
                          <a:latin typeface="Arial"/>
                        </a:rPr>
                        <a:t>Интеграции</a:t>
                      </a:r>
                    </a:p>
                  </a:txBody>
                  <a:tcPr anchor="ctr" marL="88900" marR="76200" marT="38100" marB="38100">
                    <a:solidFill>
                      <a:srgbClr val="F6F2FA"/>
                    </a:solidFill>
                    <a:lnL w="9525" cap="flat" cmpd="sng" algn="ctr">
                      <a:solidFill>
                        <a:srgbClr val="C9C2D8"/>
                      </a:solidFill>
                    </a:lnL>
                    <a:lnR w="9525" cap="flat" cmpd="sng" algn="ctr">
                      <a:solidFill>
                        <a:srgbClr val="C9C2D8"/>
                      </a:solidFill>
                    </a:lnR>
                    <a:lnT w="9525" cap="flat" cmpd="sng" algn="ctr">
                      <a:solidFill>
                        <a:srgbClr val="C9C2D8"/>
                      </a:solidFill>
                    </a:lnT>
                    <a:lnB w="9525" cap="flat" cmpd="sng" algn="ctr">
                      <a:solidFill>
                        <a:srgbClr val="C9C2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1050">
                          <a:solidFill>
                            <a:srgbClr val="1F2937"/>
                          </a:solidFill>
                          <a:latin typeface="Arial"/>
                        </a:rPr>
                        <a:t>GitHub/GitLab, CI/CD, IDE; SaaS / on-prem</a:t>
                      </a:r>
                    </a:p>
                  </a:txBody>
                  <a:tcPr anchor="ctr" marL="88900" marR="76200" marT="38100" marB="38100">
                    <a:solidFill>
                      <a:srgbClr val="F6F2FA"/>
                    </a:solidFill>
                    <a:lnL w="9525" cap="flat" cmpd="sng" algn="ctr">
                      <a:solidFill>
                        <a:srgbClr val="C9C2D8"/>
                      </a:solidFill>
                    </a:lnL>
                    <a:lnR w="9525" cap="flat" cmpd="sng" algn="ctr">
                      <a:solidFill>
                        <a:srgbClr val="C9C2D8"/>
                      </a:solidFill>
                    </a:lnR>
                    <a:lnT w="9525" cap="flat" cmpd="sng" algn="ctr">
                      <a:solidFill>
                        <a:srgbClr val="C9C2D8"/>
                      </a:solidFill>
                    </a:lnT>
                    <a:lnB w="9525" cap="flat" cmpd="sng" algn="ctr">
                      <a:solidFill>
                        <a:srgbClr val="C9C2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1050">
                          <a:solidFill>
                            <a:srgbClr val="1F2937"/>
                          </a:solidFill>
                          <a:latin typeface="Arial"/>
                        </a:rPr>
                        <a:t>CI/CD, плагины, API; self-hosted / облако</a:t>
                      </a:r>
                    </a:p>
                  </a:txBody>
                  <a:tcPr anchor="ctr" marL="88900" marR="76200" marT="38100" marB="38100">
                    <a:solidFill>
                      <a:srgbClr val="F6F2FA"/>
                    </a:solidFill>
                    <a:lnL w="9525" cap="flat" cmpd="sng" algn="ctr">
                      <a:solidFill>
                        <a:srgbClr val="C9C2D8"/>
                      </a:solidFill>
                    </a:lnL>
                    <a:lnR w="9525" cap="flat" cmpd="sng" algn="ctr">
                      <a:solidFill>
                        <a:srgbClr val="C9C2D8"/>
                      </a:solidFill>
                    </a:lnR>
                    <a:lnT w="9525" cap="flat" cmpd="sng" algn="ctr">
                      <a:solidFill>
                        <a:srgbClr val="C9C2D8"/>
                      </a:solidFill>
                    </a:lnT>
                    <a:lnB w="9525" cap="flat" cmpd="sng" algn="ctr">
                      <a:solidFill>
                        <a:srgbClr val="C9C2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1050">
                          <a:solidFill>
                            <a:srgbClr val="1F2937"/>
                          </a:solidFill>
                          <a:latin typeface="Arial"/>
                        </a:rPr>
                        <a:t>GitHub; SaaS</a:t>
                      </a:r>
                    </a:p>
                  </a:txBody>
                  <a:tcPr anchor="ctr" marL="88900" marR="76200" marT="38100" marB="38100">
                    <a:solidFill>
                      <a:srgbClr val="F6F2FA"/>
                    </a:solidFill>
                    <a:lnL w="9525" cap="flat" cmpd="sng" algn="ctr">
                      <a:solidFill>
                        <a:srgbClr val="C9C2D8"/>
                      </a:solidFill>
                    </a:lnL>
                    <a:lnR w="9525" cap="flat" cmpd="sng" algn="ctr">
                      <a:solidFill>
                        <a:srgbClr val="C9C2D8"/>
                      </a:solidFill>
                    </a:lnR>
                    <a:lnT w="9525" cap="flat" cmpd="sng" algn="ctr">
                      <a:solidFill>
                        <a:srgbClr val="C9C2D8"/>
                      </a:solidFill>
                    </a:lnT>
                    <a:lnB w="9525" cap="flat" cmpd="sng" algn="ctr">
                      <a:solidFill>
                        <a:srgbClr val="C9C2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1050">
                          <a:solidFill>
                            <a:srgbClr val="1F2937"/>
                          </a:solidFill>
                          <a:latin typeface="Arial"/>
                        </a:rPr>
                        <a:t>GitHub, VS Code; SaaS</a:t>
                      </a:r>
                    </a:p>
                  </a:txBody>
                  <a:tcPr anchor="ctr" marL="88900" marR="76200" marT="38100" marB="38100">
                    <a:solidFill>
                      <a:srgbClr val="F6F2FA"/>
                    </a:solidFill>
                    <a:lnL w="9525" cap="flat" cmpd="sng" algn="ctr">
                      <a:solidFill>
                        <a:srgbClr val="C9C2D8"/>
                      </a:solidFill>
                    </a:lnL>
                    <a:lnR w="9525" cap="flat" cmpd="sng" algn="ctr">
                      <a:solidFill>
                        <a:srgbClr val="C9C2D8"/>
                      </a:solidFill>
                    </a:lnR>
                    <a:lnT w="9525" cap="flat" cmpd="sng" algn="ctr">
                      <a:solidFill>
                        <a:srgbClr val="C9C2D8"/>
                      </a:solidFill>
                    </a:lnT>
                    <a:lnB w="9525" cap="flat" cmpd="sng" algn="ctr">
                      <a:solidFill>
                        <a:srgbClr val="C9C2D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58800" y="5918200"/>
            <a:ext cx="11176000" cy="5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b="0" sz="1100">
                <a:solidFill>
                  <a:srgbClr val="6D28D9"/>
                </a:solidFill>
                <a:latin typeface="Arial"/>
              </a:rPr>
              <a:t>Вывод: прямого локального аналога «правила + ИИ + on-prem» нет; преимущество нужно подтвердить сопоставимыми испытаниями по качеству, времени и стоимости.</a:t>
            </a:r>
          </a:p>
          <a:p>
            <a:pPr algn="l"/>
            <a:r>
              <a:rPr b="0" sz="1050">
                <a:solidFill>
                  <a:srgbClr val="4B5563"/>
                </a:solidFill>
                <a:latin typeface="Arial"/>
              </a:rPr>
              <a:t>EduNet — дополнительный сценарий (проверка учебных работ) на той же платформе; не ядро позиционирования.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01900" y="6502400"/>
            <a:ext cx="508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0" sz="819">
                <a:solidFill>
                  <a:srgbClr val="6D28D9"/>
                </a:solidFill>
                <a:latin typeface="Arial"/>
              </a:rPr>
              <a:t>SonarQube Docs</a:t>
            </a:r>
            <a:r>
              <a:rPr b="0" sz="819">
                <a:solidFill>
                  <a:srgbClr val="6B7280"/>
                </a:solidFill>
                <a:latin typeface="Arial"/>
              </a:rPr>
              <a:t>  •  </a:t>
            </a:r>
            <a:r>
              <a:rPr b="0" sz="819">
                <a:solidFill>
                  <a:srgbClr val="6D28D9"/>
                </a:solidFill>
                <a:latin typeface="Arial"/>
              </a:rPr>
              <a:t>CodeRabbit Docs</a:t>
            </a:r>
            <a:r>
              <a:rPr b="0" sz="819">
                <a:solidFill>
                  <a:srgbClr val="6B7280"/>
                </a:solidFill>
                <a:latin typeface="Arial"/>
              </a:rPr>
              <a:t>  •  </a:t>
            </a:r>
            <a:r>
              <a:rPr b="0" sz="819">
                <a:solidFill>
                  <a:srgbClr val="6D28D9"/>
                </a:solidFill>
                <a:latin typeface="Arial"/>
              </a:rPr>
              <a:t>GitHub Docs</a:t>
            </a:r>
            <a:r>
              <a:rPr b="0" sz="819">
                <a:solidFill>
                  <a:srgbClr val="6B7280"/>
                </a:solidFill>
                <a:latin typeface="Arial"/>
              </a:rPr>
              <a:t>   (окт. 2026)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1663700"/>
            <a:ext cx="787400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2050">
                <a:solidFill>
                  <a:srgbClr val="1F2937"/>
                </a:solidFill>
                <a:latin typeface="Arial"/>
              </a:rPr>
              <a:t>Кто использует и кто может платить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58800" y="2222500"/>
            <a:ext cx="72517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11200" y="2413000"/>
            <a:ext cx="127000" cy="762000"/>
          </a:xfrm>
          <a:prstGeom prst="rect">
            <a:avLst/>
          </a:prstGeom>
          <a:solidFill>
            <a:srgbClr val="933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52500" y="2336800"/>
            <a:ext cx="6731000" cy="406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b="1" sz="1400">
                <a:solidFill>
                  <a:srgbClr val="1F2937"/>
                </a:solidFill>
                <a:latin typeface="Arial"/>
              </a:rPr>
              <a:t>ИТ-команды / TechNet — первичный сегмент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2500" y="2743200"/>
            <a:ext cx="6731000" cy="55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200">
                <a:solidFill>
                  <a:srgbClr val="4B5563"/>
                </a:solidFill>
                <a:latin typeface="Arial"/>
              </a:rPr>
              <a:t>Первичный фильтр до ручного Code Review, встраивание в CI/CD и PR. Для разработчиков, DevOps, AppSec и руководителей разработки.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8800" y="3403600"/>
            <a:ext cx="72517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1200" y="3594100"/>
            <a:ext cx="127000" cy="762000"/>
          </a:xfrm>
          <a:prstGeom prst="rect">
            <a:avLst/>
          </a:prstGeom>
          <a:solidFill>
            <a:srgbClr val="933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2500" y="3517900"/>
            <a:ext cx="6731000" cy="406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b="1" sz="1400">
                <a:solidFill>
                  <a:srgbClr val="1F2937"/>
                </a:solidFill>
                <a:latin typeface="Arial"/>
              </a:rPr>
              <a:t>DevOps / AppSec / платформенные команды — первичный сегмент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2500" y="3924300"/>
            <a:ext cx="6731000" cy="55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200">
                <a:solidFill>
                  <a:srgbClr val="4B5563"/>
                </a:solidFill>
                <a:latin typeface="Arial"/>
              </a:rPr>
              <a:t>Политики качества и безопасности, автоматизация проверок, quality gates в CI/CD.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58800" y="4584700"/>
            <a:ext cx="72517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1200" y="4775200"/>
            <a:ext cx="127000" cy="762000"/>
          </a:xfrm>
          <a:prstGeom prst="rect">
            <a:avLst/>
          </a:prstGeom>
          <a:solidFill>
            <a:srgbClr val="933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2500" y="4699000"/>
            <a:ext cx="6731000" cy="406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b="1" sz="1400">
                <a:solidFill>
                  <a:srgbClr val="1F2937"/>
                </a:solidFill>
                <a:latin typeface="Arial"/>
              </a:rPr>
              <a:t>HR / обучающие программы — вторичный сегмент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2500" y="5105400"/>
            <a:ext cx="6731000" cy="55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200">
                <a:solidFill>
                  <a:srgbClr val="4B5563"/>
                </a:solidFill>
                <a:latin typeface="Arial"/>
              </a:rPr>
              <a:t>Разбор тестовых заданий и оценка решений кандидатов — не ядро продукта.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58800" y="5778500"/>
            <a:ext cx="7251700" cy="647700"/>
          </a:xfrm>
          <a:prstGeom prst="roundRect">
            <a:avLst>
              <a:gd name="adj" fmla="val 8000"/>
            </a:avLst>
          </a:prstGeom>
          <a:solidFill>
            <a:srgbClr val="F3ED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4700" y="5930900"/>
            <a:ext cx="68580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b="1" sz="1150">
                <a:solidFill>
                  <a:srgbClr val="6D28D9"/>
                </a:solidFill>
                <a:latin typeface="Arial"/>
              </a:rPr>
              <a:t>Монетизация: B2B/B2Pro-подписка — per developer / repo / CI-pipeline; on-prem лицензия; платные пилоты. B2Edu — дополнительный канал.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600" y="6515100"/>
            <a:ext cx="9144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0" sz="850">
                <a:solidFill>
                  <a:srgbClr val="6B7280"/>
                </a:solidFill>
                <a:latin typeface="Arial"/>
              </a:rPr>
              <a:t>EduNet — частично: дополнительный пилот/канал после TechNet-пилота. Цену и размер рынка уточняют CustDev и пилоты.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2300" y="1689100"/>
            <a:ext cx="63500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1800">
                <a:solidFill>
                  <a:srgbClr val="1F2937"/>
                </a:solidFill>
                <a:latin typeface="Arial"/>
              </a:rPr>
              <a:t>Команда проекта: 5 участников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2300" y="2070100"/>
            <a:ext cx="6350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0" sz="1100">
                <a:solidFill>
                  <a:srgbClr val="6D28D9"/>
                </a:solidFill>
                <a:latin typeface="Arial"/>
              </a:rPr>
              <a:t>Лидер: aldarfgfg@gmail.com • +7 (928) 218-30-30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92900" y="2235200"/>
            <a:ext cx="1143000" cy="17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0" sz="880">
                <a:solidFill>
                  <a:srgbClr val="6B7280"/>
                </a:solidFill>
                <a:latin typeface="Arial"/>
              </a:rPr>
              <a:t>UnTI ID / Leader ID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1500" y="2438400"/>
            <a:ext cx="7251700" cy="736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23900" y="2565400"/>
            <a:ext cx="127000" cy="482600"/>
          </a:xfrm>
          <a:prstGeom prst="rect">
            <a:avLst/>
          </a:prstGeom>
          <a:solidFill>
            <a:srgbClr val="933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9800" y="2527300"/>
            <a:ext cx="5334000" cy="279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1320">
                <a:solidFill>
                  <a:srgbClr val="1F2937"/>
                </a:solidFill>
                <a:latin typeface="Arial"/>
              </a:rPr>
              <a:t>Исмаилов Ислам Шафикович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9800" y="2832100"/>
            <a:ext cx="5461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0" sz="1080">
                <a:solidFill>
                  <a:srgbClr val="4B5563"/>
                </a:solidFill>
                <a:latin typeface="Arial"/>
              </a:rPr>
              <a:t>Руководитель проекта · Тимлид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0" y="2565400"/>
            <a:ext cx="1397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b="0" sz="950">
                <a:solidFill>
                  <a:srgbClr val="6B7280"/>
                </a:solidFill>
                <a:latin typeface="Arial"/>
              </a:rPr>
              <a:t>U2579564 / 7124087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1500" y="3213100"/>
            <a:ext cx="7251700" cy="736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23900" y="3340100"/>
            <a:ext cx="127000" cy="482600"/>
          </a:xfrm>
          <a:prstGeom prst="rect">
            <a:avLst/>
          </a:prstGeom>
          <a:solidFill>
            <a:srgbClr val="933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9800" y="3302000"/>
            <a:ext cx="5334000" cy="279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1320">
                <a:solidFill>
                  <a:srgbClr val="1F2937"/>
                </a:solidFill>
                <a:latin typeface="Arial"/>
              </a:rPr>
              <a:t>Яхьяев Абдуллах Закарьяевич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9800" y="3606800"/>
            <a:ext cx="5461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0" sz="1080">
                <a:solidFill>
                  <a:srgbClr val="4B5563"/>
                </a:solidFill>
                <a:latin typeface="Arial"/>
              </a:rPr>
              <a:t>Технический специалист · Backend / DevOps / CI-интеграции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0000" y="3340100"/>
            <a:ext cx="1397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b="0" sz="950">
                <a:solidFill>
                  <a:srgbClr val="6B7280"/>
                </a:solidFill>
                <a:latin typeface="Arial"/>
              </a:rPr>
              <a:t>U2579613 / 7675623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1500" y="3987800"/>
            <a:ext cx="7251700" cy="736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23900" y="4114800"/>
            <a:ext cx="127000" cy="482600"/>
          </a:xfrm>
          <a:prstGeom prst="rect">
            <a:avLst/>
          </a:prstGeom>
          <a:solidFill>
            <a:srgbClr val="933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9800" y="4076700"/>
            <a:ext cx="5334000" cy="279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1320">
                <a:solidFill>
                  <a:srgbClr val="1F2937"/>
                </a:solidFill>
                <a:latin typeface="Arial"/>
              </a:rPr>
              <a:t>Загиров Алимагомед Мурадович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9800" y="4381500"/>
            <a:ext cx="5461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0" sz="1080">
                <a:solidFill>
                  <a:srgbClr val="4B5563"/>
                </a:solidFill>
                <a:latin typeface="Arial"/>
              </a:rPr>
              <a:t>Бизнес-аналитик · Продуктовый аналитик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0000" y="4114800"/>
            <a:ext cx="1397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b="0" sz="950">
                <a:solidFill>
                  <a:srgbClr val="6B7280"/>
                </a:solidFill>
                <a:latin typeface="Arial"/>
              </a:rPr>
              <a:t>U1836974 / 4870356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71500" y="4762500"/>
            <a:ext cx="7251700" cy="736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23900" y="4889500"/>
            <a:ext cx="127000" cy="482600"/>
          </a:xfrm>
          <a:prstGeom prst="rect">
            <a:avLst/>
          </a:prstGeom>
          <a:solidFill>
            <a:srgbClr val="933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9800" y="4851400"/>
            <a:ext cx="5334000" cy="279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1320">
                <a:solidFill>
                  <a:srgbClr val="1F2937"/>
                </a:solidFill>
                <a:latin typeface="Arial"/>
              </a:rPr>
              <a:t>Омаров Алиасхаб Рабаданович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9800" y="5156200"/>
            <a:ext cx="5461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0" sz="1080">
                <a:solidFill>
                  <a:srgbClr val="4B5563"/>
                </a:solidFill>
                <a:latin typeface="Arial"/>
              </a:rPr>
              <a:t>Технический специалист · Бэкенд-разработчик, статический анализ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0000" y="4889500"/>
            <a:ext cx="1397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b="0" sz="950">
                <a:solidFill>
                  <a:srgbClr val="6B7280"/>
                </a:solidFill>
                <a:latin typeface="Arial"/>
              </a:rPr>
              <a:t>U2579569 / 7369083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71500" y="5537200"/>
            <a:ext cx="7251700" cy="736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23900" y="5664200"/>
            <a:ext cx="127000" cy="482600"/>
          </a:xfrm>
          <a:prstGeom prst="rect">
            <a:avLst/>
          </a:prstGeom>
          <a:solidFill>
            <a:srgbClr val="933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9800" y="5626100"/>
            <a:ext cx="5334000" cy="279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1320">
                <a:solidFill>
                  <a:srgbClr val="1F2937"/>
                </a:solidFill>
                <a:latin typeface="Arial"/>
              </a:rPr>
              <a:t>Магомедов Руслан Шамильевич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9800" y="5930900"/>
            <a:ext cx="5461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0" sz="1080">
                <a:solidFill>
                  <a:srgbClr val="4B5563"/>
                </a:solidFill>
                <a:latin typeface="Arial"/>
              </a:rPr>
              <a:t>Дизайнер · Фронтенд-разработчик, UX/UI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0000" y="5664200"/>
            <a:ext cx="1397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b="0" sz="950">
                <a:solidFill>
                  <a:srgbClr val="6B7280"/>
                </a:solidFill>
                <a:latin typeface="Arial"/>
              </a:rPr>
              <a:t>U2579575 / 7688556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2300" y="6413500"/>
            <a:ext cx="8890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0" sz="1000">
                <a:solidFill>
                  <a:srgbClr val="6D28D9"/>
                </a:solidFill>
                <a:latin typeface="Arial"/>
              </a:rPr>
              <a:t>Компетенции команды: DevOps/CI · статический анализ · AppSec · backend/frontend · продуктовая аналитика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2300" y="1727200"/>
            <a:ext cx="88900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1900">
                <a:solidFill>
                  <a:srgbClr val="1F2937"/>
                </a:solidFill>
                <a:latin typeface="Arial"/>
              </a:rPr>
              <a:t>Подтверждённых партнёрств в материалах нет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" y="2311400"/>
            <a:ext cx="6845300" cy="1066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23900" y="2501900"/>
            <a:ext cx="127000" cy="685800"/>
          </a:xfrm>
          <a:prstGeom prst="rect">
            <a:avLst/>
          </a:prstGeom>
          <a:solidFill>
            <a:srgbClr val="933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5200" y="2413000"/>
            <a:ext cx="6286500" cy="406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b="1" sz="1400">
                <a:solidFill>
                  <a:srgbClr val="1F2937"/>
                </a:solidFill>
                <a:latin typeface="Arial"/>
              </a:rPr>
              <a:t>Пилотная ИТ-команда TechNet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5200" y="2819400"/>
            <a:ext cx="6286500" cy="5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150">
                <a:solidFill>
                  <a:srgbClr val="4B5563"/>
                </a:solidFill>
                <a:latin typeface="Arial"/>
              </a:rPr>
              <a:t>Реальный репозиторий и CI: разбор C/C++/Python-кода, сравнение с ручным ревью, метрики precision/recall, false positive и время ревью.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1500" y="3429000"/>
            <a:ext cx="6845300" cy="1066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23900" y="3619500"/>
            <a:ext cx="127000" cy="685800"/>
          </a:xfrm>
          <a:prstGeom prst="rect">
            <a:avLst/>
          </a:prstGeom>
          <a:solidFill>
            <a:srgbClr val="933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5200" y="3530600"/>
            <a:ext cx="6286500" cy="406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b="1" sz="1400">
                <a:solidFill>
                  <a:srgbClr val="1F2937"/>
                </a:solidFill>
                <a:latin typeface="Arial"/>
              </a:rPr>
              <a:t>Экспертиза акселератора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5200" y="3937000"/>
            <a:ext cx="6286500" cy="5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150">
                <a:solidFill>
                  <a:srgbClr val="4B5563"/>
                </a:solidFill>
                <a:latin typeface="Arial"/>
              </a:rPr>
              <a:t>Технологический аудит, наставничество и консультации по пилоту (программа ДГУ TechNet).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1500" y="4546600"/>
            <a:ext cx="6845300" cy="1066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23900" y="4737100"/>
            <a:ext cx="127000" cy="685800"/>
          </a:xfrm>
          <a:prstGeom prst="rect">
            <a:avLst/>
          </a:prstGeom>
          <a:solidFill>
            <a:srgbClr val="933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5200" y="4648200"/>
            <a:ext cx="6286500" cy="406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b="1" sz="1400">
                <a:solidFill>
                  <a:srgbClr val="1F2937"/>
                </a:solidFill>
                <a:latin typeface="Arial"/>
              </a:rPr>
              <a:t>Учебная площадка EduNet — опционально, после TechNet-пилота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5200" y="5054600"/>
            <a:ext cx="6286500" cy="5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150">
                <a:solidFill>
                  <a:srgbClr val="4B5563"/>
                </a:solidFill>
                <a:latin typeface="Arial"/>
              </a:rPr>
              <a:t>Обезличенные работы и эталонные оценки преподавателей — только как дополнительный сценарий.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6100" y="1511300"/>
            <a:ext cx="10922000" cy="279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1550">
                <a:solidFill>
                  <a:srgbClr val="1F2937"/>
                </a:solidFill>
                <a:latin typeface="Arial"/>
              </a:rPr>
              <a:t>В питче показан экран «живого демо»; протоколы испытаний не приложены.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8500" y="2006600"/>
            <a:ext cx="2489200" cy="584200"/>
          </a:xfrm>
          <a:prstGeom prst="roundRect">
            <a:avLst>
              <a:gd name="adj" fmla="val 14000"/>
            </a:avLst>
          </a:prstGeom>
          <a:solidFill>
            <a:srgbClr val="5B2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98500" y="2171700"/>
            <a:ext cx="24892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b="1" sz="1500">
                <a:solidFill>
                  <a:srgbClr val="FFFFFF"/>
                </a:solidFill>
                <a:latin typeface="Arial"/>
              </a:rPr>
              <a:t>Ориентир УГТ 4–6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40100" y="2070100"/>
            <a:ext cx="6350000" cy="5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b="0" sz="1250">
                <a:solidFill>
                  <a:srgbClr val="4B5563"/>
                </a:solidFill>
                <a:latin typeface="Arial"/>
              </a:rPr>
              <a:t>Оценка по шкале шаблона, не подтверждённый официальный статус.</a:t>
            </a:r>
          </a:p>
          <a:p>
            <a:pPr algn="l"/>
            <a:r>
              <a:rPr b="0" sz="1100">
                <a:solidFill>
                  <a:srgbClr val="6D28D9"/>
                </a:solidFill>
                <a:latin typeface="Arial"/>
              </a:rPr>
              <a:t>EduNet — отдельный вторичный трек, не влияет на УГТ TechNet.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6100" y="2844800"/>
            <a:ext cx="635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1040">
                <a:solidFill>
                  <a:srgbClr val="6D28D9"/>
                </a:solidFill>
                <a:latin typeface="Arial"/>
              </a:rPr>
              <a:t>КАРТА ПОДТВЕРЖДЕНИЙ ПО ШКАЛЕ УГТ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3238500"/>
          <a:ext cx="11455400" cy="3479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92300"/>
                <a:gridCol w="4419600"/>
                <a:gridCol w="5143500"/>
              </a:tblGrid>
              <a:tr h="482600">
                <a:tc>
                  <a:txBody>
                    <a:bodyPr wrap="square"/>
                    <a:lstStyle/>
                    <a:p>
                      <a:pPr algn="l"/>
                      <a:r>
                        <a:rPr b="1" sz="1150">
                          <a:solidFill>
                            <a:srgbClr val="FFFFFF"/>
                          </a:solidFill>
                          <a:latin typeface="Arial"/>
                        </a:rPr>
                        <a:t>УГТ / этап</a:t>
                      </a:r>
                    </a:p>
                  </a:txBody>
                  <a:tcPr anchor="ctr" marL="88900" marR="76200" marT="38100" marB="38100">
                    <a:solidFill>
                      <a:srgbClr val="F79433"/>
                    </a:solidFill>
                    <a:lnL w="9525" cap="flat" cmpd="sng" algn="ctr">
                      <a:solidFill>
                        <a:srgbClr val="F79433"/>
                      </a:solidFill>
                    </a:lnL>
                    <a:lnR w="9525" cap="flat" cmpd="sng" algn="ctr">
                      <a:solidFill>
                        <a:srgbClr val="F79433"/>
                      </a:solidFill>
                    </a:lnR>
                    <a:lnT w="9525" cap="flat" cmpd="sng" algn="ctr">
                      <a:solidFill>
                        <a:srgbClr val="F79433"/>
                      </a:solidFill>
                    </a:lnT>
                    <a:lnB w="9525" cap="flat" cmpd="sng" algn="ctr">
                      <a:solidFill>
                        <a:srgbClr val="F7943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1" sz="1150">
                          <a:solidFill>
                            <a:srgbClr val="FFFFFF"/>
                          </a:solidFill>
                          <a:latin typeface="Arial"/>
                        </a:rPr>
                        <a:t>Что есть сейчас</a:t>
                      </a:r>
                    </a:p>
                  </a:txBody>
                  <a:tcPr anchor="ctr" marL="88900" marR="76200" marT="38100" marB="38100">
                    <a:solidFill>
                      <a:srgbClr val="F79433"/>
                    </a:solidFill>
                    <a:lnL w="9525" cap="flat" cmpd="sng" algn="ctr">
                      <a:solidFill>
                        <a:srgbClr val="F79433"/>
                      </a:solidFill>
                    </a:lnL>
                    <a:lnR w="9525" cap="flat" cmpd="sng" algn="ctr">
                      <a:solidFill>
                        <a:srgbClr val="F79433"/>
                      </a:solidFill>
                    </a:lnR>
                    <a:lnT w="9525" cap="flat" cmpd="sng" algn="ctr">
                      <a:solidFill>
                        <a:srgbClr val="F79433"/>
                      </a:solidFill>
                    </a:lnT>
                    <a:lnB w="9525" cap="flat" cmpd="sng" algn="ctr">
                      <a:solidFill>
                        <a:srgbClr val="F7943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1" sz="1150">
                          <a:solidFill>
                            <a:srgbClr val="FFFFFF"/>
                          </a:solidFill>
                          <a:latin typeface="Arial"/>
                        </a:rPr>
                        <a:t>Артефакт / следующий шаг</a:t>
                      </a:r>
                    </a:p>
                  </a:txBody>
                  <a:tcPr anchor="ctr" marL="88900" marR="76200" marT="38100" marB="38100">
                    <a:solidFill>
                      <a:srgbClr val="F79433"/>
                    </a:solidFill>
                    <a:lnL w="9525" cap="flat" cmpd="sng" algn="ctr">
                      <a:solidFill>
                        <a:srgbClr val="F79433"/>
                      </a:solidFill>
                    </a:lnL>
                    <a:lnR w="9525" cap="flat" cmpd="sng" algn="ctr">
                      <a:solidFill>
                        <a:srgbClr val="F79433"/>
                      </a:solidFill>
                    </a:lnR>
                    <a:lnT w="9525" cap="flat" cmpd="sng" algn="ctr">
                      <a:solidFill>
                        <a:srgbClr val="F79433"/>
                      </a:solidFill>
                    </a:lnT>
                    <a:lnB w="9525" cap="flat" cmpd="sng" algn="ctr">
                      <a:solidFill>
                        <a:srgbClr val="F79433"/>
                      </a:solidFill>
                    </a:lnB>
                  </a:tcPr>
                </a:tc>
              </a:tr>
              <a:tr h="596900"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1F2937"/>
                          </a:solidFill>
                          <a:latin typeface="Arial"/>
                        </a:rPr>
                        <a:t>1–3</a:t>
                      </a:r>
                    </a:p>
                  </a:txBody>
                  <a:tcPr anchor="ctr" marL="88900" marR="76200" marT="38100" marB="38100">
                    <a:solidFill>
                      <a:srgbClr val="FFFFFF"/>
                    </a:solidFill>
                    <a:lnL w="9525" cap="flat" cmpd="sng" algn="ctr">
                      <a:solidFill>
                        <a:srgbClr val="C9C2D8"/>
                      </a:solidFill>
                    </a:lnL>
                    <a:lnR w="9525" cap="flat" cmpd="sng" algn="ctr">
                      <a:solidFill>
                        <a:srgbClr val="C9C2D8"/>
                      </a:solidFill>
                    </a:lnR>
                    <a:lnT w="9525" cap="flat" cmpd="sng" algn="ctr">
                      <a:solidFill>
                        <a:srgbClr val="C9C2D8"/>
                      </a:solidFill>
                    </a:lnT>
                    <a:lnB w="9525" cap="flat" cmpd="sng" algn="ctr">
                      <a:solidFill>
                        <a:srgbClr val="C9C2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1100">
                          <a:solidFill>
                            <a:srgbClr val="1F2937"/>
                          </a:solidFill>
                          <a:latin typeface="Arial"/>
                        </a:rPr>
                        <a:t>TechNet-сегмент, B2B-модель, сценарии CI/CD</a:t>
                      </a:r>
                    </a:p>
                  </a:txBody>
                  <a:tcPr anchor="ctr" marL="88900" marR="76200" marT="38100" marB="38100">
                    <a:solidFill>
                      <a:srgbClr val="FFFFFF"/>
                    </a:solidFill>
                    <a:lnL w="9525" cap="flat" cmpd="sng" algn="ctr">
                      <a:solidFill>
                        <a:srgbClr val="C9C2D8"/>
                      </a:solidFill>
                    </a:lnL>
                    <a:lnR w="9525" cap="flat" cmpd="sng" algn="ctr">
                      <a:solidFill>
                        <a:srgbClr val="C9C2D8"/>
                      </a:solidFill>
                    </a:lnR>
                    <a:lnT w="9525" cap="flat" cmpd="sng" algn="ctr">
                      <a:solidFill>
                        <a:srgbClr val="C9C2D8"/>
                      </a:solidFill>
                    </a:lnT>
                    <a:lnB w="9525" cap="flat" cmpd="sng" algn="ctr">
                      <a:solidFill>
                        <a:srgbClr val="C9C2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1100">
                          <a:solidFill>
                            <a:srgbClr val="1F2937"/>
                          </a:solidFill>
                          <a:latin typeface="Arial"/>
                        </a:rPr>
                        <a:t>Питч: «Акселератор.pdf», с. 2–4</a:t>
                      </a:r>
                    </a:p>
                  </a:txBody>
                  <a:tcPr anchor="ctr" marL="88900" marR="76200" marT="38100" marB="38100">
                    <a:solidFill>
                      <a:srgbClr val="FFFFFF"/>
                    </a:solidFill>
                    <a:lnL w="9525" cap="flat" cmpd="sng" algn="ctr">
                      <a:solidFill>
                        <a:srgbClr val="C9C2D8"/>
                      </a:solidFill>
                    </a:lnL>
                    <a:lnR w="9525" cap="flat" cmpd="sng" algn="ctr">
                      <a:solidFill>
                        <a:srgbClr val="C9C2D8"/>
                      </a:solidFill>
                    </a:lnR>
                    <a:lnT w="9525" cap="flat" cmpd="sng" algn="ctr">
                      <a:solidFill>
                        <a:srgbClr val="C9C2D8"/>
                      </a:solidFill>
                    </a:lnT>
                    <a:lnB w="9525" cap="flat" cmpd="sng" algn="ctr">
                      <a:solidFill>
                        <a:srgbClr val="C9C2D8"/>
                      </a:solidFill>
                    </a:lnB>
                  </a:tcPr>
                </a:tc>
              </a:tr>
              <a:tr h="596900"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1F2937"/>
                          </a:solidFill>
                          <a:latin typeface="Arial"/>
                        </a:rPr>
                        <a:t>4–6</a:t>
                      </a:r>
                    </a:p>
                  </a:txBody>
                  <a:tcPr anchor="ctr" marL="88900" marR="76200" marT="38100" marB="38100">
                    <a:solidFill>
                      <a:srgbClr val="F6F2FA"/>
                    </a:solidFill>
                    <a:lnL w="9525" cap="flat" cmpd="sng" algn="ctr">
                      <a:solidFill>
                        <a:srgbClr val="9333EA"/>
                      </a:solidFill>
                    </a:lnL>
                    <a:lnR w="9525" cap="flat" cmpd="sng" algn="ctr">
                      <a:solidFill>
                        <a:srgbClr val="9333EA"/>
                      </a:solidFill>
                    </a:lnR>
                    <a:lnT w="9525" cap="flat" cmpd="sng" algn="ctr">
                      <a:solidFill>
                        <a:srgbClr val="9333EA"/>
                      </a:solidFill>
                    </a:lnT>
                    <a:lnB w="9525" cap="flat" cmpd="sng" algn="ctr">
                      <a:solidFill>
                        <a:srgbClr val="9333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1100">
                          <a:solidFill>
                            <a:srgbClr val="1F2937"/>
                          </a:solidFill>
                          <a:latin typeface="Arial"/>
                        </a:rPr>
                        <a:t>MVP-демо, стек, интеграция с Git/CI (заявлено)</a:t>
                      </a:r>
                    </a:p>
                  </a:txBody>
                  <a:tcPr anchor="ctr" marL="88900" marR="76200" marT="38100" marB="38100">
                    <a:solidFill>
                      <a:srgbClr val="F6F2FA"/>
                    </a:solidFill>
                    <a:lnL w="9525" cap="flat" cmpd="sng" algn="ctr">
                      <a:solidFill>
                        <a:srgbClr val="9333EA"/>
                      </a:solidFill>
                    </a:lnL>
                    <a:lnR w="9525" cap="flat" cmpd="sng" algn="ctr">
                      <a:solidFill>
                        <a:srgbClr val="9333EA"/>
                      </a:solidFill>
                    </a:lnR>
                    <a:lnT w="9525" cap="flat" cmpd="sng" algn="ctr">
                      <a:solidFill>
                        <a:srgbClr val="9333EA"/>
                      </a:solidFill>
                    </a:lnT>
                    <a:lnB w="9525" cap="flat" cmpd="sng" algn="ctr">
                      <a:solidFill>
                        <a:srgbClr val="9333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1100">
                          <a:solidFill>
                            <a:srgbClr val="1F2937"/>
                          </a:solidFill>
                          <a:latin typeface="Arial"/>
                        </a:rPr>
                        <a:t>Скриншот демо; нужны протоколы метрик</a:t>
                      </a:r>
                    </a:p>
                  </a:txBody>
                  <a:tcPr anchor="ctr" marL="88900" marR="76200" marT="38100" marB="38100">
                    <a:solidFill>
                      <a:srgbClr val="F6F2FA"/>
                    </a:solidFill>
                    <a:lnL w="9525" cap="flat" cmpd="sng" algn="ctr">
                      <a:solidFill>
                        <a:srgbClr val="9333EA"/>
                      </a:solidFill>
                    </a:lnL>
                    <a:lnR w="9525" cap="flat" cmpd="sng" algn="ctr">
                      <a:solidFill>
                        <a:srgbClr val="9333EA"/>
                      </a:solidFill>
                    </a:lnR>
                    <a:lnT w="9525" cap="flat" cmpd="sng" algn="ctr">
                      <a:solidFill>
                        <a:srgbClr val="9333EA"/>
                      </a:solidFill>
                    </a:lnT>
                    <a:lnB w="9525" cap="flat" cmpd="sng" algn="ctr">
                      <a:solidFill>
                        <a:srgbClr val="9333EA"/>
                      </a:solidFill>
                    </a:lnB>
                  </a:tcPr>
                </a:tc>
              </a:tr>
              <a:tr h="609600"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1F2937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anchor="ctr" marL="88900" marR="76200" marT="38100" marB="38100">
                    <a:solidFill>
                      <a:srgbClr val="FFFFFF"/>
                    </a:solidFill>
                    <a:lnL w="9525" cap="flat" cmpd="sng" algn="ctr">
                      <a:solidFill>
                        <a:srgbClr val="C9C2D8"/>
                      </a:solidFill>
                    </a:lnL>
                    <a:lnR w="9525" cap="flat" cmpd="sng" algn="ctr">
                      <a:solidFill>
                        <a:srgbClr val="C9C2D8"/>
                      </a:solidFill>
                    </a:lnR>
                    <a:lnT w="9525" cap="flat" cmpd="sng" algn="ctr">
                      <a:solidFill>
                        <a:srgbClr val="C9C2D8"/>
                      </a:solidFill>
                    </a:lnT>
                    <a:lnB w="9525" cap="flat" cmpd="sng" algn="ctr">
                      <a:solidFill>
                        <a:srgbClr val="C9C2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1100">
                          <a:solidFill>
                            <a:srgbClr val="1F2937"/>
                          </a:solidFill>
                          <a:latin typeface="Arial"/>
                        </a:rPr>
                        <a:t>Пилот в IT-команде: протоколы тестов, метрики, сравнение с ручным ревью</a:t>
                      </a:r>
                    </a:p>
                  </a:txBody>
                  <a:tcPr anchor="ctr" marL="88900" marR="76200" marT="38100" marB="38100">
                    <a:solidFill>
                      <a:srgbClr val="FFFFFF"/>
                    </a:solidFill>
                    <a:lnL w="9525" cap="flat" cmpd="sng" algn="ctr">
                      <a:solidFill>
                        <a:srgbClr val="C9C2D8"/>
                      </a:solidFill>
                    </a:lnL>
                    <a:lnR w="9525" cap="flat" cmpd="sng" algn="ctr">
                      <a:solidFill>
                        <a:srgbClr val="C9C2D8"/>
                      </a:solidFill>
                    </a:lnR>
                    <a:lnT w="9525" cap="flat" cmpd="sng" algn="ctr">
                      <a:solidFill>
                        <a:srgbClr val="C9C2D8"/>
                      </a:solidFill>
                    </a:lnT>
                    <a:lnB w="9525" cap="flat" cmpd="sng" algn="ctr">
                      <a:solidFill>
                        <a:srgbClr val="C9C2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1100">
                          <a:solidFill>
                            <a:srgbClr val="1F2937"/>
                          </a:solidFill>
                          <a:latin typeface="Arial"/>
                        </a:rPr>
                        <a:t>Отчёт пилота пока не представлен</a:t>
                      </a:r>
                    </a:p>
                  </a:txBody>
                  <a:tcPr anchor="ctr" marL="88900" marR="76200" marT="38100" marB="38100">
                    <a:solidFill>
                      <a:srgbClr val="FFFFFF"/>
                    </a:solidFill>
                    <a:lnL w="9525" cap="flat" cmpd="sng" algn="ctr">
                      <a:solidFill>
                        <a:srgbClr val="C9C2D8"/>
                      </a:solidFill>
                    </a:lnL>
                    <a:lnR w="9525" cap="flat" cmpd="sng" algn="ctr">
                      <a:solidFill>
                        <a:srgbClr val="C9C2D8"/>
                      </a:solidFill>
                    </a:lnR>
                    <a:lnT w="9525" cap="flat" cmpd="sng" algn="ctr">
                      <a:solidFill>
                        <a:srgbClr val="C9C2D8"/>
                      </a:solidFill>
                    </a:lnT>
                    <a:lnB w="9525" cap="flat" cmpd="sng" algn="ctr">
                      <a:solidFill>
                        <a:srgbClr val="C9C2D8"/>
                      </a:solidFill>
                    </a:lnB>
                  </a:tcPr>
                </a:tc>
              </a:tr>
              <a:tr h="596900"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1F2937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anchor="ctr" marL="88900" marR="76200" marT="38100" marB="38100">
                    <a:solidFill>
                      <a:srgbClr val="F6F2FA"/>
                    </a:solidFill>
                    <a:lnL w="9525" cap="flat" cmpd="sng" algn="ctr">
                      <a:solidFill>
                        <a:srgbClr val="C9C2D8"/>
                      </a:solidFill>
                    </a:lnL>
                    <a:lnR w="9525" cap="flat" cmpd="sng" algn="ctr">
                      <a:solidFill>
                        <a:srgbClr val="C9C2D8"/>
                      </a:solidFill>
                    </a:lnR>
                    <a:lnT w="9525" cap="flat" cmpd="sng" algn="ctr">
                      <a:solidFill>
                        <a:srgbClr val="C9C2D8"/>
                      </a:solidFill>
                    </a:lnT>
                    <a:lnB w="9525" cap="flat" cmpd="sng" algn="ctr">
                      <a:solidFill>
                        <a:srgbClr val="C9C2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1100">
                          <a:solidFill>
                            <a:srgbClr val="1F2937"/>
                          </a:solidFill>
                          <a:latin typeface="Arial"/>
                        </a:rPr>
                        <a:t>B2B-внедрение: SaaS / on-prem, договоры</a:t>
                      </a:r>
                    </a:p>
                  </a:txBody>
                  <a:tcPr anchor="ctr" marL="88900" marR="76200" marT="38100" marB="38100">
                    <a:solidFill>
                      <a:srgbClr val="F6F2FA"/>
                    </a:solidFill>
                    <a:lnL w="9525" cap="flat" cmpd="sng" algn="ctr">
                      <a:solidFill>
                        <a:srgbClr val="C9C2D8"/>
                      </a:solidFill>
                    </a:lnL>
                    <a:lnR w="9525" cap="flat" cmpd="sng" algn="ctr">
                      <a:solidFill>
                        <a:srgbClr val="C9C2D8"/>
                      </a:solidFill>
                    </a:lnR>
                    <a:lnT w="9525" cap="flat" cmpd="sng" algn="ctr">
                      <a:solidFill>
                        <a:srgbClr val="C9C2D8"/>
                      </a:solidFill>
                    </a:lnT>
                    <a:lnB w="9525" cap="flat" cmpd="sng" algn="ctr">
                      <a:solidFill>
                        <a:srgbClr val="C9C2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1100">
                          <a:solidFill>
                            <a:srgbClr val="1F2937"/>
                          </a:solidFill>
                          <a:latin typeface="Arial"/>
                        </a:rPr>
                        <a:t>Акт приёмки не представлен</a:t>
                      </a:r>
                    </a:p>
                  </a:txBody>
                  <a:tcPr anchor="ctr" marL="88900" marR="76200" marT="38100" marB="38100">
                    <a:solidFill>
                      <a:srgbClr val="F6F2FA"/>
                    </a:solidFill>
                    <a:lnL w="9525" cap="flat" cmpd="sng" algn="ctr">
                      <a:solidFill>
                        <a:srgbClr val="C9C2D8"/>
                      </a:solidFill>
                    </a:lnL>
                    <a:lnR w="9525" cap="flat" cmpd="sng" algn="ctr">
                      <a:solidFill>
                        <a:srgbClr val="C9C2D8"/>
                      </a:solidFill>
                    </a:lnR>
                    <a:lnT w="9525" cap="flat" cmpd="sng" algn="ctr">
                      <a:solidFill>
                        <a:srgbClr val="C9C2D8"/>
                      </a:solidFill>
                    </a:lnT>
                    <a:lnB w="9525" cap="flat" cmpd="sng" algn="ctr">
                      <a:solidFill>
                        <a:srgbClr val="C9C2D8"/>
                      </a:solidFill>
                    </a:lnB>
                  </a:tcPr>
                </a:tc>
              </a:tr>
              <a:tr h="596900"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1F2937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anchor="ctr" marL="88900" marR="76200" marT="38100" marB="38100">
                    <a:solidFill>
                      <a:srgbClr val="FFFFFF"/>
                    </a:solidFill>
                    <a:lnL w="9525" cap="flat" cmpd="sng" algn="ctr">
                      <a:solidFill>
                        <a:srgbClr val="C9C2D8"/>
                      </a:solidFill>
                    </a:lnL>
                    <a:lnR w="9525" cap="flat" cmpd="sng" algn="ctr">
                      <a:solidFill>
                        <a:srgbClr val="C9C2D8"/>
                      </a:solidFill>
                    </a:lnR>
                    <a:lnT w="9525" cap="flat" cmpd="sng" algn="ctr">
                      <a:solidFill>
                        <a:srgbClr val="C9C2D8"/>
                      </a:solidFill>
                    </a:lnT>
                    <a:lnB w="9525" cap="flat" cmpd="sng" algn="ctr">
                      <a:solidFill>
                        <a:srgbClr val="C9C2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1100">
                          <a:solidFill>
                            <a:srgbClr val="1F2937"/>
                          </a:solidFill>
                          <a:latin typeface="Arial"/>
                        </a:rPr>
                        <a:t>Серийные продажи B2B</a:t>
                      </a:r>
                    </a:p>
                  </a:txBody>
                  <a:tcPr anchor="ctr" marL="88900" marR="76200" marT="38100" marB="38100">
                    <a:solidFill>
                      <a:srgbClr val="FFFFFF"/>
                    </a:solidFill>
                    <a:lnL w="9525" cap="flat" cmpd="sng" algn="ctr">
                      <a:solidFill>
                        <a:srgbClr val="C9C2D8"/>
                      </a:solidFill>
                    </a:lnL>
                    <a:lnR w="9525" cap="flat" cmpd="sng" algn="ctr">
                      <a:solidFill>
                        <a:srgbClr val="C9C2D8"/>
                      </a:solidFill>
                    </a:lnR>
                    <a:lnT w="9525" cap="flat" cmpd="sng" algn="ctr">
                      <a:solidFill>
                        <a:srgbClr val="C9C2D8"/>
                      </a:solidFill>
                    </a:lnT>
                    <a:lnB w="9525" cap="flat" cmpd="sng" algn="ctr">
                      <a:solidFill>
                        <a:srgbClr val="C9C2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1100">
                          <a:solidFill>
                            <a:srgbClr val="1F2937"/>
                          </a:solidFill>
                          <a:latin typeface="Arial"/>
                        </a:rPr>
                        <a:t>Договоры и отзывы не представлены</a:t>
                      </a:r>
                    </a:p>
                  </a:txBody>
                  <a:tcPr anchor="ctr" marL="88900" marR="76200" marT="38100" marB="38100">
                    <a:solidFill>
                      <a:srgbClr val="FFFFFF"/>
                    </a:solidFill>
                    <a:lnL w="9525" cap="flat" cmpd="sng" algn="ctr">
                      <a:solidFill>
                        <a:srgbClr val="C9C2D8"/>
                      </a:solidFill>
                    </a:lnL>
                    <a:lnR w="9525" cap="flat" cmpd="sng" algn="ctr">
                      <a:solidFill>
                        <a:srgbClr val="C9C2D8"/>
                      </a:solidFill>
                    </a:lnR>
                    <a:lnT w="9525" cap="flat" cmpd="sng" algn="ctr">
                      <a:solidFill>
                        <a:srgbClr val="C9C2D8"/>
                      </a:solidFill>
                    </a:lnT>
                    <a:lnB w="9525" cap="flat" cmpd="sng" algn="ctr">
                      <a:solidFill>
                        <a:srgbClr val="C9C2D8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7700" y="1879600"/>
            <a:ext cx="104140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1850">
                <a:solidFill>
                  <a:srgbClr val="1F2937"/>
                </a:solidFill>
                <a:latin typeface="Arial"/>
              </a:rPr>
              <a:t>Данных «до / после» нет: фиксируем базу и план проверок.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7700" y="2362200"/>
            <a:ext cx="10414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0" sz="1250">
                <a:solidFill>
                  <a:srgbClr val="4B5563"/>
                </a:solidFill>
                <a:latin typeface="Arial"/>
              </a:rPr>
              <a:t>Плановая веха не является уже достигнутым результатом.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3048000"/>
          <a:ext cx="10769600" cy="3225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384800"/>
                <a:gridCol w="5384800"/>
              </a:tblGrid>
              <a:tr h="482600">
                <a:tc>
                  <a:txBody>
                    <a:bodyPr wrap="square"/>
                    <a:lstStyle/>
                    <a:p>
                      <a:pPr algn="l"/>
                      <a:r>
                        <a:rPr b="1" sz="1300">
                          <a:solidFill>
                            <a:srgbClr val="FFFFFF"/>
                          </a:solidFill>
                          <a:latin typeface="Arial"/>
                        </a:rPr>
                        <a:t>Подтверждено материалами</a:t>
                      </a:r>
                    </a:p>
                  </a:txBody>
                  <a:tcPr anchor="ctr" marL="88900" marR="76200" marT="38100" marB="38100">
                    <a:solidFill>
                      <a:srgbClr val="5B2E8E"/>
                    </a:solidFill>
                    <a:lnL w="9525" cap="flat" cmpd="sng" algn="ctr">
                      <a:solidFill>
                        <a:srgbClr val="5B2E8E"/>
                      </a:solidFill>
                    </a:lnL>
                    <a:lnR w="9525" cap="flat" cmpd="sng" algn="ctr">
                      <a:solidFill>
                        <a:srgbClr val="5B2E8E"/>
                      </a:solidFill>
                    </a:lnR>
                    <a:lnT w="9525" cap="flat" cmpd="sng" algn="ctr">
                      <a:solidFill>
                        <a:srgbClr val="5B2E8E"/>
                      </a:solidFill>
                    </a:lnT>
                    <a:lnB w="9525" cap="flat" cmpd="sng" algn="ctr">
                      <a:solidFill>
                        <a:srgbClr val="5B2E8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1" sz="1300">
                          <a:solidFill>
                            <a:srgbClr val="FFFFFF"/>
                          </a:solidFill>
                          <a:latin typeface="Arial"/>
                        </a:rPr>
                        <a:t>Целевой результат / план</a:t>
                      </a:r>
                    </a:p>
                  </a:txBody>
                  <a:tcPr anchor="ctr" marL="88900" marR="76200" marT="38100" marB="38100">
                    <a:solidFill>
                      <a:srgbClr val="5B2E8E"/>
                    </a:solidFill>
                    <a:lnL w="9525" cap="flat" cmpd="sng" algn="ctr">
                      <a:solidFill>
                        <a:srgbClr val="5B2E8E"/>
                      </a:solidFill>
                    </a:lnL>
                    <a:lnR w="9525" cap="flat" cmpd="sng" algn="ctr">
                      <a:solidFill>
                        <a:srgbClr val="5B2E8E"/>
                      </a:solidFill>
                    </a:lnR>
                    <a:lnT w="9525" cap="flat" cmpd="sng" algn="ctr">
                      <a:solidFill>
                        <a:srgbClr val="5B2E8E"/>
                      </a:solidFill>
                    </a:lnT>
                    <a:lnB w="9525" cap="flat" cmpd="sng" algn="ctr">
                      <a:solidFill>
                        <a:srgbClr val="5B2E8E"/>
                      </a:solidFill>
                    </a:lnB>
                  </a:tcPr>
                </a:tc>
              </a:tr>
              <a:tr h="584200">
                <a:tc>
                  <a:txBody>
                    <a:bodyPr wrap="square"/>
                    <a:lstStyle/>
                    <a:p>
                      <a:pPr algn="l"/>
                      <a:r>
                        <a:rPr b="1" sz="1200">
                          <a:solidFill>
                            <a:srgbClr val="1F2937"/>
                          </a:solidFill>
                          <a:latin typeface="Arial"/>
                        </a:rPr>
                        <a:t>MVP заявлен, демо показано</a:t>
                      </a:r>
                    </a:p>
                  </a:txBody>
                  <a:tcPr anchor="ctr" marL="88900" marR="76200" marT="38100" marB="38100">
                    <a:solidFill>
                      <a:srgbClr val="FFFFFF"/>
                    </a:solidFill>
                    <a:lnL w="9525" cap="flat" cmpd="sng" algn="ctr">
                      <a:solidFill>
                        <a:srgbClr val="C9C2D8"/>
                      </a:solidFill>
                    </a:lnL>
                    <a:lnR w="9525" cap="flat" cmpd="sng" algn="ctr">
                      <a:solidFill>
                        <a:srgbClr val="C9C2D8"/>
                      </a:solidFill>
                    </a:lnR>
                    <a:lnT w="9525" cap="flat" cmpd="sng" algn="ctr">
                      <a:solidFill>
                        <a:srgbClr val="C9C2D8"/>
                      </a:solidFill>
                    </a:lnT>
                    <a:lnB w="9525" cap="flat" cmpd="sng" algn="ctr">
                      <a:solidFill>
                        <a:srgbClr val="C9C2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1200">
                          <a:solidFill>
                            <a:srgbClr val="1F2937"/>
                          </a:solidFill>
                          <a:latin typeface="Arial"/>
                        </a:rPr>
                        <a:t>Метрики качества на реальных PR, adoption в CI</a:t>
                      </a:r>
                    </a:p>
                  </a:txBody>
                  <a:tcPr anchor="ctr" marL="88900" marR="76200" marT="38100" marB="38100">
                    <a:solidFill>
                      <a:srgbClr val="FFFFFF"/>
                    </a:solidFill>
                    <a:lnL w="9525" cap="flat" cmpd="sng" algn="ctr">
                      <a:solidFill>
                        <a:srgbClr val="C9C2D8"/>
                      </a:solidFill>
                    </a:lnL>
                    <a:lnR w="9525" cap="flat" cmpd="sng" algn="ctr">
                      <a:solidFill>
                        <a:srgbClr val="C9C2D8"/>
                      </a:solidFill>
                    </a:lnR>
                    <a:lnT w="9525" cap="flat" cmpd="sng" algn="ctr">
                      <a:solidFill>
                        <a:srgbClr val="C9C2D8"/>
                      </a:solidFill>
                    </a:lnT>
                    <a:lnB w="9525" cap="flat" cmpd="sng" algn="ctr">
                      <a:solidFill>
                        <a:srgbClr val="C9C2D8"/>
                      </a:solidFill>
                    </a:lnB>
                  </a:tcPr>
                </a:tc>
              </a:tr>
              <a:tr h="584200">
                <a:tc>
                  <a:txBody>
                    <a:bodyPr wrap="square"/>
                    <a:lstStyle/>
                    <a:p>
                      <a:pPr algn="l"/>
                      <a:r>
                        <a:rPr b="1" sz="1200">
                          <a:solidFill>
                            <a:srgbClr val="1F2937"/>
                          </a:solidFill>
                          <a:latin typeface="Arial"/>
                        </a:rPr>
                        <a:t>Стек: Next.js, FastAPI, Docker</a:t>
                      </a:r>
                    </a:p>
                  </a:txBody>
                  <a:tcPr anchor="ctr" marL="88900" marR="76200" marT="38100" marB="38100">
                    <a:solidFill>
                      <a:srgbClr val="F6F2FA"/>
                    </a:solidFill>
                    <a:lnL w="9525" cap="flat" cmpd="sng" algn="ctr">
                      <a:solidFill>
                        <a:srgbClr val="C9C2D8"/>
                      </a:solidFill>
                    </a:lnL>
                    <a:lnR w="9525" cap="flat" cmpd="sng" algn="ctr">
                      <a:solidFill>
                        <a:srgbClr val="C9C2D8"/>
                      </a:solidFill>
                    </a:lnR>
                    <a:lnT w="9525" cap="flat" cmpd="sng" algn="ctr">
                      <a:solidFill>
                        <a:srgbClr val="C9C2D8"/>
                      </a:solidFill>
                    </a:lnT>
                    <a:lnB w="9525" cap="flat" cmpd="sng" algn="ctr">
                      <a:solidFill>
                        <a:srgbClr val="C9C2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1200">
                          <a:solidFill>
                            <a:srgbClr val="1F2937"/>
                          </a:solidFill>
                          <a:latin typeface="Arial"/>
                        </a:rPr>
                        <a:t>Стабильный контур для пилота TechNet (CI/CD)</a:t>
                      </a:r>
                    </a:p>
                  </a:txBody>
                  <a:tcPr anchor="ctr" marL="88900" marR="76200" marT="38100" marB="38100">
                    <a:solidFill>
                      <a:srgbClr val="F6F2FA"/>
                    </a:solidFill>
                    <a:lnL w="9525" cap="flat" cmpd="sng" algn="ctr">
                      <a:solidFill>
                        <a:srgbClr val="C9C2D8"/>
                      </a:solidFill>
                    </a:lnL>
                    <a:lnR w="9525" cap="flat" cmpd="sng" algn="ctr">
                      <a:solidFill>
                        <a:srgbClr val="C9C2D8"/>
                      </a:solidFill>
                    </a:lnR>
                    <a:lnT w="9525" cap="flat" cmpd="sng" algn="ctr">
                      <a:solidFill>
                        <a:srgbClr val="C9C2D8"/>
                      </a:solidFill>
                    </a:lnT>
                    <a:lnB w="9525" cap="flat" cmpd="sng" algn="ctr">
                      <a:solidFill>
                        <a:srgbClr val="C9C2D8"/>
                      </a:solidFill>
                    </a:lnB>
                  </a:tcPr>
                </a:tc>
              </a:tr>
              <a:tr h="787400">
                <a:tc>
                  <a:txBody>
                    <a:bodyPr wrap="square"/>
                    <a:lstStyle/>
                    <a:p>
                      <a:pPr algn="l"/>
                      <a:r>
                        <a:rPr b="1" sz="1200">
                          <a:solidFill>
                            <a:srgbClr val="1F2937"/>
                          </a:solidFill>
                          <a:latin typeface="Arial"/>
                        </a:rPr>
                        <a:t>TechNet — основной целевой сегмент; EduNet — вторичный</a:t>
                      </a:r>
                    </a:p>
                  </a:txBody>
                  <a:tcPr anchor="ctr" marL="88900" marR="76200" marT="38100" marB="38100">
                    <a:solidFill>
                      <a:srgbClr val="FFFFFF"/>
                    </a:solidFill>
                    <a:lnL w="9525" cap="flat" cmpd="sng" algn="ctr">
                      <a:solidFill>
                        <a:srgbClr val="C9C2D8"/>
                      </a:solidFill>
                    </a:lnL>
                    <a:lnR w="9525" cap="flat" cmpd="sng" algn="ctr">
                      <a:solidFill>
                        <a:srgbClr val="C9C2D8"/>
                      </a:solidFill>
                    </a:lnR>
                    <a:lnT w="9525" cap="flat" cmpd="sng" algn="ctr">
                      <a:solidFill>
                        <a:srgbClr val="C9C2D8"/>
                      </a:solidFill>
                    </a:lnT>
                    <a:lnB w="9525" cap="flat" cmpd="sng" algn="ctr">
                      <a:solidFill>
                        <a:srgbClr val="C9C2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1200">
                          <a:solidFill>
                            <a:srgbClr val="1F2937"/>
                          </a:solidFill>
                          <a:latin typeface="Arial"/>
                        </a:rPr>
                        <a:t>CustDev с IT-командами: цена за repo/dev, ROI</a:t>
                      </a:r>
                    </a:p>
                  </a:txBody>
                  <a:tcPr anchor="ctr" marL="88900" marR="76200" marT="38100" marB="38100">
                    <a:solidFill>
                      <a:srgbClr val="FFFFFF"/>
                    </a:solidFill>
                    <a:lnL w="9525" cap="flat" cmpd="sng" algn="ctr">
                      <a:solidFill>
                        <a:srgbClr val="C9C2D8"/>
                      </a:solidFill>
                    </a:lnL>
                    <a:lnR w="9525" cap="flat" cmpd="sng" algn="ctr">
                      <a:solidFill>
                        <a:srgbClr val="C9C2D8"/>
                      </a:solidFill>
                    </a:lnR>
                    <a:lnT w="9525" cap="flat" cmpd="sng" algn="ctr">
                      <a:solidFill>
                        <a:srgbClr val="C9C2D8"/>
                      </a:solidFill>
                    </a:lnT>
                    <a:lnB w="9525" cap="flat" cmpd="sng" algn="ctr">
                      <a:solidFill>
                        <a:srgbClr val="C9C2D8"/>
                      </a:solidFill>
                    </a:lnB>
                  </a:tcPr>
                </a:tc>
              </a:tr>
              <a:tr h="787400">
                <a:tc>
                  <a:txBody>
                    <a:bodyPr wrap="square"/>
                    <a:lstStyle/>
                    <a:p>
                      <a:pPr algn="l"/>
                      <a:r>
                        <a:rPr b="1" sz="1200">
                          <a:solidFill>
                            <a:srgbClr val="1F2937"/>
                          </a:solidFill>
                          <a:latin typeface="Arial"/>
                        </a:rPr>
                        <a:t>Партнёры пока не подтверждены</a:t>
                      </a:r>
                    </a:p>
                  </a:txBody>
                  <a:tcPr anchor="ctr" marL="88900" marR="76200" marT="38100" marB="38100">
                    <a:solidFill>
                      <a:srgbClr val="F6F2FA"/>
                    </a:solidFill>
                    <a:lnL w="9525" cap="flat" cmpd="sng" algn="ctr">
                      <a:solidFill>
                        <a:srgbClr val="C9C2D8"/>
                      </a:solidFill>
                    </a:lnL>
                    <a:lnR w="9525" cap="flat" cmpd="sng" algn="ctr">
                      <a:solidFill>
                        <a:srgbClr val="C9C2D8"/>
                      </a:solidFill>
                    </a:lnR>
                    <a:lnT w="9525" cap="flat" cmpd="sng" algn="ctr">
                      <a:solidFill>
                        <a:srgbClr val="C9C2D8"/>
                      </a:solidFill>
                    </a:lnT>
                    <a:lnB w="9525" cap="flat" cmpd="sng" algn="ctr">
                      <a:solidFill>
                        <a:srgbClr val="C9C2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1200">
                          <a:solidFill>
                            <a:srgbClr val="1F2937"/>
                          </a:solidFill>
                          <a:latin typeface="Arial"/>
                        </a:rPr>
                        <a:t>Письма интереса и совместные пилоты</a:t>
                      </a:r>
                    </a:p>
                  </a:txBody>
                  <a:tcPr anchor="ctr" marL="88900" marR="76200" marT="38100" marB="38100">
                    <a:solidFill>
                      <a:srgbClr val="F6F2FA"/>
                    </a:solidFill>
                    <a:lnL w="9525" cap="flat" cmpd="sng" algn="ctr">
                      <a:solidFill>
                        <a:srgbClr val="C9C2D8"/>
                      </a:solidFill>
                    </a:lnL>
                    <a:lnR w="9525" cap="flat" cmpd="sng" algn="ctr">
                      <a:solidFill>
                        <a:srgbClr val="C9C2D8"/>
                      </a:solidFill>
                    </a:lnR>
                    <a:lnT w="9525" cap="flat" cmpd="sng" algn="ctr">
                      <a:solidFill>
                        <a:srgbClr val="C9C2D8"/>
                      </a:solidFill>
                    </a:lnT>
                    <a:lnB w="9525" cap="flat" cmpd="sng" algn="ctr">
                      <a:solidFill>
                        <a:srgbClr val="C9C2D8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2300" y="1739900"/>
            <a:ext cx="88900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1800">
                <a:solidFill>
                  <a:srgbClr val="1F2937"/>
                </a:solidFill>
                <a:latin typeface="Arial"/>
              </a:rPr>
              <a:t>Дорожная карта из исходного питча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58800" y="2273300"/>
            <a:ext cx="6883400" cy="1092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1200" y="2425700"/>
            <a:ext cx="1498600" cy="787400"/>
          </a:xfrm>
          <a:prstGeom prst="roundRect">
            <a:avLst>
              <a:gd name="adj" fmla="val 16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1200" y="2679700"/>
            <a:ext cx="14986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b="1" sz="1400">
                <a:solidFill>
                  <a:srgbClr val="FFFFFF"/>
                </a:solidFill>
                <a:latin typeface="Arial"/>
              </a:rPr>
              <a:t>1–2 мес.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4900" y="2413000"/>
            <a:ext cx="49530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1500">
                <a:solidFill>
                  <a:srgbClr val="1F2937"/>
                </a:solidFill>
                <a:latin typeface="Arial"/>
              </a:rPr>
              <a:t>Проектирование и разработка MVP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4900" y="2781300"/>
            <a:ext cx="4953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200">
                <a:solidFill>
                  <a:srgbClr val="4B5563"/>
                </a:solidFill>
                <a:latin typeface="Arial"/>
              </a:rPr>
              <a:t>MVP + комментарии в PR/MR, CI-интеграция (GitHub/GitLab, SARIF).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8800" y="3429000"/>
            <a:ext cx="6883400" cy="1092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11200" y="3581400"/>
            <a:ext cx="1498600" cy="787400"/>
          </a:xfrm>
          <a:prstGeom prst="roundRect">
            <a:avLst>
              <a:gd name="adj" fmla="val 16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1200" y="3835400"/>
            <a:ext cx="14986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b="1" sz="1400">
                <a:solidFill>
                  <a:srgbClr val="FFFFFF"/>
                </a:solidFill>
                <a:latin typeface="Arial"/>
              </a:rPr>
              <a:t>3-й мес.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4900" y="3568700"/>
            <a:ext cx="49530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1500">
                <a:solidFill>
                  <a:srgbClr val="1F2937"/>
                </a:solidFill>
                <a:latin typeface="Arial"/>
              </a:rPr>
              <a:t>Тестирование и валидация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4900" y="3937000"/>
            <a:ext cx="4953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200">
                <a:solidFill>
                  <a:srgbClr val="4B5563"/>
                </a:solidFill>
                <a:latin typeface="Arial"/>
              </a:rPr>
              <a:t>Метрики на реальных PR: false positive, время ревью.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8800" y="4584700"/>
            <a:ext cx="6883400" cy="1092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11200" y="4737100"/>
            <a:ext cx="1498600" cy="787400"/>
          </a:xfrm>
          <a:prstGeom prst="roundRect">
            <a:avLst>
              <a:gd name="adj" fmla="val 16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1200" y="4991100"/>
            <a:ext cx="14986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b="1" sz="1400">
                <a:solidFill>
                  <a:srgbClr val="FFFFFF"/>
                </a:solidFill>
                <a:latin typeface="Arial"/>
              </a:rPr>
              <a:t>4–5 мес.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4900" y="4724400"/>
            <a:ext cx="49530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1500">
                <a:solidFill>
                  <a:srgbClr val="1F2937"/>
                </a:solidFill>
                <a:latin typeface="Arial"/>
              </a:rPr>
              <a:t>Пилот и подготовка к B2B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4900" y="5092700"/>
            <a:ext cx="4953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200">
                <a:solidFill>
                  <a:srgbClr val="4B5563"/>
                </a:solidFill>
                <a:latin typeface="Arial"/>
              </a:rPr>
              <a:t>Пилот в ИТ-команде на реальном репозитории и CI.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2300" y="5854700"/>
            <a:ext cx="1041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b="0" sz="1150">
                <a:solidFill>
                  <a:srgbClr val="1F2937"/>
                </a:solidFill>
                <a:latin typeface="Arial"/>
              </a:rPr>
              <a:t>Дополнительно: методика испытаний, права на ПО и экономика внедрения.</a:t>
            </a:r>
          </a:p>
          <a:p>
            <a:pPr algn="l"/>
            <a:r>
              <a:rPr b="0" sz="1100">
                <a:solidFill>
                  <a:srgbClr val="6D28D9"/>
                </a:solidFill>
                <a:latin typeface="Arial"/>
              </a:rPr>
              <a:t>Учебный поток EduNet — дополнительный кейс, если останутся ресурсы.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600" y="6489700"/>
            <a:ext cx="7874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0" sz="840">
                <a:solidFill>
                  <a:srgbClr val="6B7280"/>
                </a:solidFill>
                <a:latin typeface="Arial"/>
              </a:rPr>
              <a:t>Сроки: «Акселератор.pdf», с. 5; дополнительные направления — предложение.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2300" y="1727200"/>
            <a:ext cx="914400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1950">
                <a:solidFill>
                  <a:srgbClr val="1F2937"/>
                </a:solidFill>
                <a:latin typeface="Arial"/>
              </a:rPr>
              <a:t>Нужен путь от демо к доказанному эффекту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" y="2336800"/>
            <a:ext cx="7073900" cy="1066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23900" y="2527300"/>
            <a:ext cx="127000" cy="698500"/>
          </a:xfrm>
          <a:prstGeom prst="rect">
            <a:avLst/>
          </a:prstGeom>
          <a:solidFill>
            <a:srgbClr val="933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5200" y="2463800"/>
            <a:ext cx="65405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1500">
                <a:solidFill>
                  <a:srgbClr val="1F2937"/>
                </a:solidFill>
                <a:latin typeface="Arial"/>
              </a:rPr>
              <a:t>01 Пилотные площадки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5200" y="2819400"/>
            <a:ext cx="65405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250">
                <a:solidFill>
                  <a:srgbClr val="4B5563"/>
                </a:solidFill>
                <a:latin typeface="Arial"/>
              </a:rPr>
              <a:t>ИТ-команда: CI/CD, PR-ревью, метрики качества и времени.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1500" y="3441700"/>
            <a:ext cx="7073900" cy="1066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23900" y="3632200"/>
            <a:ext cx="127000" cy="698500"/>
          </a:xfrm>
          <a:prstGeom prst="rect">
            <a:avLst/>
          </a:prstGeom>
          <a:solidFill>
            <a:srgbClr val="933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5200" y="3568700"/>
            <a:ext cx="65405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1500">
                <a:solidFill>
                  <a:srgbClr val="1F2937"/>
                </a:solidFill>
                <a:latin typeface="Arial"/>
              </a:rPr>
              <a:t>02 Независимая экспертиза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5200" y="3924300"/>
            <a:ext cx="65405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250">
                <a:solidFill>
                  <a:srgbClr val="4B5563"/>
                </a:solidFill>
                <a:latin typeface="Arial"/>
              </a:rPr>
              <a:t>Оценить ошибки, ложные срабатывания и безопасность метода.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1500" y="4546600"/>
            <a:ext cx="7073900" cy="1066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23900" y="4737100"/>
            <a:ext cx="127000" cy="698500"/>
          </a:xfrm>
          <a:prstGeom prst="rect">
            <a:avLst/>
          </a:prstGeom>
          <a:solidFill>
            <a:srgbClr val="933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5200" y="4673600"/>
            <a:ext cx="65405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1500">
                <a:solidFill>
                  <a:srgbClr val="1F2937"/>
                </a:solidFill>
                <a:latin typeface="Arial"/>
              </a:rPr>
              <a:t>03 Проверка B2B-модели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5200" y="5029200"/>
            <a:ext cx="65405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250">
                <a:solidFill>
                  <a:srgbClr val="4B5563"/>
                </a:solidFill>
                <a:latin typeface="Arial"/>
              </a:rPr>
              <a:t>Проверить B2B-модель; B2Edu — дополнительный сценарий.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2300" y="5791200"/>
            <a:ext cx="9144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0" sz="1100">
                <a:solidFill>
                  <a:srgbClr val="6D28D9"/>
                </a:solidFill>
                <a:latin typeface="Arial"/>
              </a:rPr>
              <a:t>Программа ДГУ TechNet заявляет обучение, наставничество и консалтинг.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33400" y="1841500"/>
            <a:ext cx="10414000" cy="431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2500">
                <a:solidFill>
                  <a:srgbClr val="FFFFFF"/>
                </a:solidFill>
                <a:latin typeface="Arial"/>
              </a:rPr>
              <a:t>Экспертиза — следующий контрольный шаг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0400" y="3657600"/>
            <a:ext cx="3149600" cy="1244600"/>
          </a:xfrm>
          <a:prstGeom prst="roundRect">
            <a:avLst>
              <a:gd name="adj" fmla="val 8000"/>
            </a:avLst>
          </a:prstGeom>
          <a:solidFill>
            <a:srgbClr val="2E2140"/>
          </a:solidFill>
          <a:ln w="12700">
            <a:solidFill>
              <a:srgbClr val="9B8A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3810000"/>
            <a:ext cx="381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1150">
                <a:solidFill>
                  <a:srgbClr val="D9CFF0"/>
                </a:solidFill>
                <a:latin typeface="Arial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70000" y="3784600"/>
            <a:ext cx="23495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1650">
                <a:solidFill>
                  <a:srgbClr val="FFFFFF"/>
                </a:solidFill>
                <a:latin typeface="Arial"/>
              </a:rPr>
              <a:t>Технология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70000" y="4127500"/>
            <a:ext cx="2349500" cy="584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b="0" sz="1100">
                <a:solidFill>
                  <a:srgbClr val="D9CFF0"/>
                </a:solidFill>
                <a:latin typeface="Arial"/>
              </a:rPr>
              <a:t>Реализуемость в CI/CD, интеграции, C/C++/Python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51300" y="3657600"/>
            <a:ext cx="3149600" cy="1244600"/>
          </a:xfrm>
          <a:prstGeom prst="roundRect">
            <a:avLst>
              <a:gd name="adj" fmla="val 8000"/>
            </a:avLst>
          </a:prstGeom>
          <a:solidFill>
            <a:srgbClr val="2E2140"/>
          </a:solidFill>
          <a:ln w="12700">
            <a:solidFill>
              <a:srgbClr val="9B8A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4500" y="3810000"/>
            <a:ext cx="381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1150">
                <a:solidFill>
                  <a:srgbClr val="D9CFF0"/>
                </a:solidFill>
                <a:latin typeface="Arial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0900" y="3784600"/>
            <a:ext cx="23495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1650">
                <a:solidFill>
                  <a:srgbClr val="FFFFFF"/>
                </a:solidFill>
                <a:latin typeface="Arial"/>
              </a:rPr>
              <a:t>Рынок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0900" y="4127500"/>
            <a:ext cx="2349500" cy="584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b="0" sz="1100">
                <a:solidFill>
                  <a:srgbClr val="D9CFF0"/>
                </a:solidFill>
                <a:latin typeface="Arial"/>
              </a:rPr>
              <a:t>B2B DevTools/AppSec, ROI для IT-команд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42200" y="3657600"/>
            <a:ext cx="3149600" cy="1244600"/>
          </a:xfrm>
          <a:prstGeom prst="roundRect">
            <a:avLst>
              <a:gd name="adj" fmla="val 8000"/>
            </a:avLst>
          </a:prstGeom>
          <a:solidFill>
            <a:srgbClr val="2E2140"/>
          </a:solidFill>
          <a:ln w="12700">
            <a:solidFill>
              <a:srgbClr val="9B8A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45400" y="3810000"/>
            <a:ext cx="381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1150">
                <a:solidFill>
                  <a:srgbClr val="D9CFF0"/>
                </a:solidFill>
                <a:latin typeface="Arial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51800" y="3784600"/>
            <a:ext cx="23495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1650">
                <a:solidFill>
                  <a:srgbClr val="FFFFFF"/>
                </a:solidFill>
                <a:latin typeface="Arial"/>
              </a:rPr>
              <a:t>Пилот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51800" y="4127500"/>
            <a:ext cx="2349500" cy="584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b="0" sz="1100">
                <a:solidFill>
                  <a:srgbClr val="D9CFF0"/>
                </a:solidFill>
                <a:latin typeface="Arial"/>
              </a:rPr>
              <a:t>Метрики в IT-команде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8500" y="5181600"/>
            <a:ext cx="9144000" cy="279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0" sz="1100">
                <a:solidFill>
                  <a:srgbClr val="D9CFF0"/>
                </a:solidFill>
                <a:latin typeface="Arial"/>
              </a:rPr>
              <a:t>Научные принципы — в составе экспертизы по шаблону ДГУ. EduNet — вторичный сценарий, не ядро.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8500" y="5880100"/>
            <a:ext cx="6350000" cy="584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b="1" sz="1280">
                <a:solidFill>
                  <a:srgbClr val="FFFFFF"/>
                </a:solidFill>
                <a:latin typeface="Arial"/>
              </a:rPr>
              <a:t>Исмаилов Ислам Шафикович</a:t>
            </a:r>
          </a:p>
          <a:p>
            <a:pPr algn="l"/>
            <a:r>
              <a:rPr b="0" sz="1150">
                <a:solidFill>
                  <a:srgbClr val="D9CFF0"/>
                </a:solidFill>
                <a:latin typeface="Arial"/>
              </a:rPr>
              <a:t>aldarfgfg@gmail.com • +7 (928) 218-30-30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